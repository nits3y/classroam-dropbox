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Press Start 2P" charset="1" panose="00000500000000000000"/>
      <p:regular r:id="rId42"/>
    </p:embeddedFont>
    <p:embeddedFont>
      <p:font typeface="Retropix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3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3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7488" y="2245188"/>
            <a:ext cx="2273023" cy="554049"/>
          </a:xfrm>
          <a:custGeom>
            <a:avLst/>
            <a:gdLst/>
            <a:ahLst/>
            <a:cxnLst/>
            <a:rect r="r" b="b" t="t" l="l"/>
            <a:pathLst>
              <a:path h="554049" w="2273023">
                <a:moveTo>
                  <a:pt x="0" y="0"/>
                </a:moveTo>
                <a:lnTo>
                  <a:pt x="2273024" y="0"/>
                </a:lnTo>
                <a:lnTo>
                  <a:pt x="2273024" y="554049"/>
                </a:lnTo>
                <a:lnTo>
                  <a:pt x="0" y="554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9847" y="1354063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42654" y="1091878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75428" y="6488625"/>
            <a:ext cx="1491121" cy="1952368"/>
          </a:xfrm>
          <a:custGeom>
            <a:avLst/>
            <a:gdLst/>
            <a:ahLst/>
            <a:cxnLst/>
            <a:rect r="r" b="b" t="t" l="l"/>
            <a:pathLst>
              <a:path h="1952368" w="1491121">
                <a:moveTo>
                  <a:pt x="0" y="0"/>
                </a:moveTo>
                <a:lnTo>
                  <a:pt x="1491121" y="0"/>
                </a:lnTo>
                <a:lnTo>
                  <a:pt x="1491121" y="1952369"/>
                </a:lnTo>
                <a:lnTo>
                  <a:pt x="0" y="19523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7732" y="3929903"/>
            <a:ext cx="11072535" cy="241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6"/>
              </a:lnSpc>
            </a:pPr>
            <a:r>
              <a:rPr lang="en-US" sz="5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</a:t>
            </a:r>
            <a:r>
              <a:rPr lang="en-US" sz="5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VELOPMENT METHODOLOGIES AND TECHNOLOGIES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4219" y="9258300"/>
            <a:ext cx="2800686" cy="465614"/>
          </a:xfrm>
          <a:custGeom>
            <a:avLst/>
            <a:gdLst/>
            <a:ahLst/>
            <a:cxnLst/>
            <a:rect r="r" b="b" t="t" l="l"/>
            <a:pathLst>
              <a:path h="465614" w="2800686">
                <a:moveTo>
                  <a:pt x="0" y="0"/>
                </a:moveTo>
                <a:lnTo>
                  <a:pt x="2800687" y="0"/>
                </a:lnTo>
                <a:lnTo>
                  <a:pt x="2800687" y="465614"/>
                </a:lnTo>
                <a:lnTo>
                  <a:pt x="0" y="465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0036" y="8588016"/>
            <a:ext cx="1529053" cy="896407"/>
          </a:xfrm>
          <a:custGeom>
            <a:avLst/>
            <a:gdLst/>
            <a:ahLst/>
            <a:cxnLst/>
            <a:rect r="r" b="b" t="t" l="l"/>
            <a:pathLst>
              <a:path h="896407" w="1529053">
                <a:moveTo>
                  <a:pt x="0" y="0"/>
                </a:moveTo>
                <a:lnTo>
                  <a:pt x="1529053" y="0"/>
                </a:lnTo>
                <a:lnTo>
                  <a:pt x="1529053" y="896407"/>
                </a:lnTo>
                <a:lnTo>
                  <a:pt x="0" y="89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79759" y="8588016"/>
            <a:ext cx="2800686" cy="465614"/>
          </a:xfrm>
          <a:custGeom>
            <a:avLst/>
            <a:gdLst/>
            <a:ahLst/>
            <a:cxnLst/>
            <a:rect r="r" b="b" t="t" l="l"/>
            <a:pathLst>
              <a:path h="465614" w="2800686">
                <a:moveTo>
                  <a:pt x="0" y="0"/>
                </a:moveTo>
                <a:lnTo>
                  <a:pt x="2800687" y="0"/>
                </a:lnTo>
                <a:lnTo>
                  <a:pt x="2800687" y="465614"/>
                </a:lnTo>
                <a:lnTo>
                  <a:pt x="0" y="465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52054" y="7464809"/>
            <a:ext cx="1456098" cy="1403314"/>
          </a:xfrm>
          <a:custGeom>
            <a:avLst/>
            <a:gdLst/>
            <a:ahLst/>
            <a:cxnLst/>
            <a:rect r="r" b="b" t="t" l="l"/>
            <a:pathLst>
              <a:path h="1403314" w="1456098">
                <a:moveTo>
                  <a:pt x="0" y="0"/>
                </a:moveTo>
                <a:lnTo>
                  <a:pt x="1456097" y="0"/>
                </a:lnTo>
                <a:lnTo>
                  <a:pt x="1456097" y="1403315"/>
                </a:lnTo>
                <a:lnTo>
                  <a:pt x="0" y="1403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99847" y="1354063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8043" y="3898136"/>
            <a:ext cx="6403184" cy="8383874"/>
          </a:xfrm>
          <a:custGeom>
            <a:avLst/>
            <a:gdLst/>
            <a:ahLst/>
            <a:cxnLst/>
            <a:rect r="r" b="b" t="t" l="l"/>
            <a:pathLst>
              <a:path h="8383874" w="6403184">
                <a:moveTo>
                  <a:pt x="6403184" y="0"/>
                </a:moveTo>
                <a:lnTo>
                  <a:pt x="0" y="0"/>
                </a:lnTo>
                <a:lnTo>
                  <a:pt x="0" y="8383874"/>
                </a:lnTo>
                <a:lnTo>
                  <a:pt x="6403184" y="8383874"/>
                </a:lnTo>
                <a:lnTo>
                  <a:pt x="640318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86500" y="190500"/>
            <a:ext cx="8143875" cy="4101552"/>
          </a:xfrm>
          <a:custGeom>
            <a:avLst/>
            <a:gdLst/>
            <a:ahLst/>
            <a:cxnLst/>
            <a:rect r="r" b="b" t="t" l="l"/>
            <a:pathLst>
              <a:path h="4101552" w="8143875">
                <a:moveTo>
                  <a:pt x="0" y="0"/>
                </a:moveTo>
                <a:lnTo>
                  <a:pt x="8143875" y="0"/>
                </a:lnTo>
                <a:lnTo>
                  <a:pt x="8143875" y="4101552"/>
                </a:lnTo>
                <a:lnTo>
                  <a:pt x="0" y="4101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41324" y="4703522"/>
            <a:ext cx="10758425" cy="5274857"/>
          </a:xfrm>
          <a:custGeom>
            <a:avLst/>
            <a:gdLst/>
            <a:ahLst/>
            <a:cxnLst/>
            <a:rect r="r" b="b" t="t" l="l"/>
            <a:pathLst>
              <a:path h="5274857" w="10758425">
                <a:moveTo>
                  <a:pt x="0" y="0"/>
                </a:moveTo>
                <a:lnTo>
                  <a:pt x="10758425" y="0"/>
                </a:lnTo>
                <a:lnTo>
                  <a:pt x="10758425" y="5274857"/>
                </a:lnTo>
                <a:lnTo>
                  <a:pt x="0" y="5274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989" r="0" b="-98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42470" y="1842276"/>
            <a:ext cx="5735988" cy="100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6"/>
              </a:lnSpc>
            </a:pPr>
            <a:r>
              <a:rPr lang="en-US" sz="579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METHODOLOGIES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8047" y="5264296"/>
            <a:ext cx="8108549" cy="407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methodology is the set of procedures followed during game development. It provides a structured process that helps the team work efficiently, especially on larger projects where coordination is important.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88332" y="3886272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8"/>
                </a:lnTo>
                <a:lnTo>
                  <a:pt x="0" y="310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76654" y="7267802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8" y="0"/>
                </a:lnTo>
                <a:lnTo>
                  <a:pt x="3397758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80206" y="4600113"/>
            <a:ext cx="1742490" cy="1679325"/>
          </a:xfrm>
          <a:custGeom>
            <a:avLst/>
            <a:gdLst/>
            <a:ahLst/>
            <a:cxnLst/>
            <a:rect r="r" b="b" t="t" l="l"/>
            <a:pathLst>
              <a:path h="1679325" w="1742490">
                <a:moveTo>
                  <a:pt x="0" y="0"/>
                </a:moveTo>
                <a:lnTo>
                  <a:pt x="1742490" y="0"/>
                </a:lnTo>
                <a:lnTo>
                  <a:pt x="1742490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43280" y="3886272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8"/>
                </a:lnTo>
                <a:lnTo>
                  <a:pt x="0" y="310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98142" y="3886272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8"/>
                </a:lnTo>
                <a:lnTo>
                  <a:pt x="0" y="310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53004" y="3886272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8"/>
                </a:lnTo>
                <a:lnTo>
                  <a:pt x="0" y="3107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961423" y="4949499"/>
            <a:ext cx="1966150" cy="1152656"/>
          </a:xfrm>
          <a:custGeom>
            <a:avLst/>
            <a:gdLst/>
            <a:ahLst/>
            <a:cxnLst/>
            <a:rect r="r" b="b" t="t" l="l"/>
            <a:pathLst>
              <a:path h="1152656" w="1966150">
                <a:moveTo>
                  <a:pt x="0" y="0"/>
                </a:moveTo>
                <a:lnTo>
                  <a:pt x="1966151" y="0"/>
                </a:lnTo>
                <a:lnTo>
                  <a:pt x="1966151" y="1152656"/>
                </a:lnTo>
                <a:lnTo>
                  <a:pt x="0" y="11526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58147" y="4600113"/>
            <a:ext cx="1756157" cy="1679325"/>
          </a:xfrm>
          <a:custGeom>
            <a:avLst/>
            <a:gdLst/>
            <a:ahLst/>
            <a:cxnLst/>
            <a:rect r="r" b="b" t="t" l="l"/>
            <a:pathLst>
              <a:path h="1679325" w="1756157">
                <a:moveTo>
                  <a:pt x="0" y="0"/>
                </a:moveTo>
                <a:lnTo>
                  <a:pt x="1756157" y="0"/>
                </a:lnTo>
                <a:lnTo>
                  <a:pt x="1756157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15710" y="4600113"/>
            <a:ext cx="1678462" cy="1641395"/>
          </a:xfrm>
          <a:custGeom>
            <a:avLst/>
            <a:gdLst/>
            <a:ahLst/>
            <a:cxnLst/>
            <a:rect r="r" b="b" t="t" l="l"/>
            <a:pathLst>
              <a:path h="1641395" w="1678462">
                <a:moveTo>
                  <a:pt x="0" y="0"/>
                </a:moveTo>
                <a:lnTo>
                  <a:pt x="1678461" y="0"/>
                </a:lnTo>
                <a:lnTo>
                  <a:pt x="1678461" y="1641396"/>
                </a:lnTo>
                <a:lnTo>
                  <a:pt x="0" y="16413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38028" y="2468644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43158" y="7537009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CODE AND FIX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245620" y="7267802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51711" y="7537009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WATERFALL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755247" y="7267802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53004" y="7267802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935072" y="7537009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ITERATIVE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88764" y="7537009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AGILE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1756" y="4247130"/>
            <a:ext cx="1742490" cy="1679325"/>
          </a:xfrm>
          <a:custGeom>
            <a:avLst/>
            <a:gdLst/>
            <a:ahLst/>
            <a:cxnLst/>
            <a:rect r="r" b="b" t="t" l="l"/>
            <a:pathLst>
              <a:path h="1679325" w="1742490">
                <a:moveTo>
                  <a:pt x="0" y="0"/>
                </a:moveTo>
                <a:lnTo>
                  <a:pt x="1742490" y="0"/>
                </a:lnTo>
                <a:lnTo>
                  <a:pt x="1742490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708" y="734474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CODE AND FIX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4412" y="2565964"/>
            <a:ext cx="12623594" cy="287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game development team starts creating a game without a design document or development plan. As new bugs and missing features appear, they stop to fix them before continuing. This cycle repeats until the project is finished.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83779" y="5573950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83779" y="6381590"/>
            <a:ext cx="12623594" cy="287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Little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or no planning before development.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Developers begin coding right away.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Bugs and issues are fixed as they occur ("firefighting").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process is reactive rather than proactive.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1756" y="4247130"/>
            <a:ext cx="1742490" cy="1679325"/>
          </a:xfrm>
          <a:custGeom>
            <a:avLst/>
            <a:gdLst/>
            <a:ahLst/>
            <a:cxnLst/>
            <a:rect r="r" b="b" t="t" l="l"/>
            <a:pathLst>
              <a:path h="1679325" w="1742490">
                <a:moveTo>
                  <a:pt x="0" y="0"/>
                </a:moveTo>
                <a:lnTo>
                  <a:pt x="1742490" y="0"/>
                </a:lnTo>
                <a:lnTo>
                  <a:pt x="1742490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708" y="734474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CODE AND FIX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6666" y="4371514"/>
            <a:ext cx="12064937" cy="452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  <a:spcBef>
                <a:spcPct val="0"/>
              </a:spcBef>
            </a:pPr>
            <a:r>
              <a:rPr lang="en-US" sz="48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game development team starts creating a game without a design document or development plan. As new bugs and missing features appear, they stop to fix them before continuing. This cycle repeats until the project is finished.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83779" y="3369214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1756" y="4247130"/>
            <a:ext cx="1742490" cy="1679325"/>
          </a:xfrm>
          <a:custGeom>
            <a:avLst/>
            <a:gdLst/>
            <a:ahLst/>
            <a:cxnLst/>
            <a:rect r="r" b="b" t="t" l="l"/>
            <a:pathLst>
              <a:path h="1679325" w="1742490">
                <a:moveTo>
                  <a:pt x="0" y="0"/>
                </a:moveTo>
                <a:lnTo>
                  <a:pt x="1742490" y="0"/>
                </a:lnTo>
                <a:lnTo>
                  <a:pt x="1742490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708" y="734474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CODE AND FIX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83779" y="2346251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DISADVANTAGES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83779" y="3153891"/>
            <a:ext cx="12623594" cy="40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Produces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more bugs and technical issues.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Difficult to maintain and improve the game.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Can d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elay project completion.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May lead to a death spiral, where bugs accumulate faster than they can be fixed.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Oft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 results in employee burnout due to long working hours ("crunch time").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878635" y="2401639"/>
            <a:ext cx="13081137" cy="7693741"/>
            <a:chOff x="0" y="0"/>
            <a:chExt cx="17441517" cy="102583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36179" y="2498651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DISADVANTAGES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6179" y="3306291"/>
            <a:ext cx="12623594" cy="40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Produces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more bugs and technical issues.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Difficult to maintain and improve the game.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Can d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elay project completion.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May lead to a death spiral, where bugs accumulate faster than they can be fixed.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Oft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 results in employee burnout due to long working hours ("crunch time").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36179" y="7487927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WHY WAS IT COMMON?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6179" y="8305091"/>
            <a:ext cx="11923121" cy="197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103" indent="-338552" lvl="1">
              <a:lnSpc>
                <a:spcPts val="3826"/>
              </a:lnSpc>
              <a:spcBef>
                <a:spcPct val="0"/>
              </a:spcBef>
              <a:buFont typeface="Arial"/>
              <a:buChar char="•"/>
            </a:pPr>
            <a:r>
              <a:rPr lang="en-US" sz="31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 worked</a:t>
            </a:r>
            <a:r>
              <a:rPr lang="en-US" sz="31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for small teams and simple games i</a:t>
            </a:r>
            <a:r>
              <a:rPr lang="en-US" sz="31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n th</a:t>
            </a:r>
            <a:r>
              <a:rPr lang="en-US" sz="31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 past.</a:t>
            </a:r>
          </a:p>
          <a:p>
            <a:pPr algn="l" marL="677103" indent="-338552" lvl="1">
              <a:lnSpc>
                <a:spcPts val="3826"/>
              </a:lnSpc>
              <a:spcBef>
                <a:spcPct val="0"/>
              </a:spcBef>
              <a:buFont typeface="Arial"/>
              <a:buChar char="•"/>
            </a:pPr>
            <a:r>
              <a:rPr lang="en-US" sz="313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Modern game development projects are much larger and more complex, making this approach ineffective.</a:t>
            </a:r>
          </a:p>
          <a:p>
            <a:pPr algn="l" marL="677103" indent="-338552" lvl="1">
              <a:lnSpc>
                <a:spcPts val="3826"/>
              </a:lnSpc>
              <a:spcBef>
                <a:spcPct val="0"/>
              </a:spcBef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4412" y="2565964"/>
            <a:ext cx="12623594" cy="231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a development methodology where the team plans the entire game before development begins. Detailed documents are created to guide the implementation process.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83779" y="5156924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HOW IT WORKS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83779" y="5709535"/>
            <a:ext cx="12623594" cy="400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Exte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nsive planning is done before coding starts.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eams prepare detailed technical documents, design documents, and art bibles.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Development follows a planned schedule with milestones and target deadlines.</a:t>
            </a:r>
          </a:p>
          <a:p>
            <a:pPr algn="l" marL="795991" indent="-397995" lvl="1">
              <a:lnSpc>
                <a:spcPts val="4497"/>
              </a:lnSpc>
              <a:spcBef>
                <a:spcPct val="0"/>
              </a:spcBef>
              <a:buFont typeface="Arial"/>
              <a:buChar char="•"/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Eac</a:t>
            </a: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 stage is completed according to the original plan.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83678" y="4755168"/>
            <a:ext cx="1966150" cy="1152656"/>
          </a:xfrm>
          <a:custGeom>
            <a:avLst/>
            <a:gdLst/>
            <a:ahLst/>
            <a:cxnLst/>
            <a:rect r="r" b="b" t="t" l="l"/>
            <a:pathLst>
              <a:path h="1152656" w="1966150">
                <a:moveTo>
                  <a:pt x="0" y="0"/>
                </a:moveTo>
                <a:lnTo>
                  <a:pt x="1966150" y="0"/>
                </a:lnTo>
                <a:lnTo>
                  <a:pt x="1966150" y="1152655"/>
                </a:lnTo>
                <a:lnTo>
                  <a:pt x="0" y="1152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73965" y="7342677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WATERFALL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3779" y="4716770"/>
            <a:ext cx="12623594" cy="400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6"/>
              </a:lnSpc>
              <a:spcBef>
                <a:spcPct val="0"/>
              </a:spcBef>
            </a:pPr>
            <a:r>
              <a:rPr lang="en-US" sz="429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</a:t>
            </a:r>
            <a:r>
              <a:rPr lang="en-US" sz="429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game studio developing a sports game sequel spends several months creating the game design document, technical specifications, art guidelines, and development schedule before writing any code. The team then follows this plan throughout development.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74412" y="3457088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83678" y="4755168"/>
            <a:ext cx="1966150" cy="1152656"/>
          </a:xfrm>
          <a:custGeom>
            <a:avLst/>
            <a:gdLst/>
            <a:ahLst/>
            <a:cxnLst/>
            <a:rect r="r" b="b" t="t" l="l"/>
            <a:pathLst>
              <a:path h="1152656" w="1966150">
                <a:moveTo>
                  <a:pt x="0" y="0"/>
                </a:moveTo>
                <a:lnTo>
                  <a:pt x="1966150" y="0"/>
                </a:lnTo>
                <a:lnTo>
                  <a:pt x="1966150" y="1152655"/>
                </a:lnTo>
                <a:lnTo>
                  <a:pt x="0" y="1152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3965" y="7342677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WATERFALL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5007" y="2387747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83779" y="3041454"/>
            <a:ext cx="12623594" cy="305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35" indent="-353668" lvl="1">
              <a:lnSpc>
                <a:spcPts val="3996"/>
              </a:lnSpc>
              <a:spcBef>
                <a:spcPct val="0"/>
              </a:spcBef>
              <a:buFont typeface="Arial"/>
              <a:buChar char="•"/>
            </a:pPr>
            <a:r>
              <a:rPr lang="en-US" sz="32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Encourage</a:t>
            </a:r>
            <a:r>
              <a:rPr lang="en-US" sz="32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 careful planning before development.</a:t>
            </a:r>
          </a:p>
          <a:p>
            <a:pPr algn="l" marL="707335" indent="-353668" lvl="1">
              <a:lnSpc>
                <a:spcPts val="3996"/>
              </a:lnSpc>
              <a:spcBef>
                <a:spcPct val="0"/>
              </a:spcBef>
              <a:buFont typeface="Arial"/>
              <a:buChar char="•"/>
            </a:pPr>
            <a:r>
              <a:rPr lang="en-US" sz="32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Helps identify possible challenges early.</a:t>
            </a:r>
          </a:p>
          <a:p>
            <a:pPr algn="l" marL="707335" indent="-353668" lvl="1">
              <a:lnSpc>
                <a:spcPts val="3996"/>
              </a:lnSpc>
              <a:spcBef>
                <a:spcPct val="0"/>
              </a:spcBef>
              <a:buFont typeface="Arial"/>
              <a:buChar char="•"/>
            </a:pPr>
            <a:r>
              <a:rPr lang="en-US" sz="32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Makes it easier to create schedules, milestones, and estimated completion dates.</a:t>
            </a:r>
          </a:p>
          <a:p>
            <a:pPr algn="l" marL="707335" indent="-353668" lvl="1">
              <a:lnSpc>
                <a:spcPts val="3996"/>
              </a:lnSpc>
              <a:spcBef>
                <a:spcPct val="0"/>
              </a:spcBef>
              <a:buFont typeface="Arial"/>
              <a:buChar char="•"/>
            </a:pPr>
            <a:r>
              <a:rPr lang="en-US" sz="32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Works well for sequels, expansion packs, or projects with little innovation.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83678" y="4755168"/>
            <a:ext cx="1966150" cy="1152656"/>
          </a:xfrm>
          <a:custGeom>
            <a:avLst/>
            <a:gdLst/>
            <a:ahLst/>
            <a:cxnLst/>
            <a:rect r="r" b="b" t="t" l="l"/>
            <a:pathLst>
              <a:path h="1152656" w="1966150">
                <a:moveTo>
                  <a:pt x="0" y="0"/>
                </a:moveTo>
                <a:lnTo>
                  <a:pt x="1966150" y="0"/>
                </a:lnTo>
                <a:lnTo>
                  <a:pt x="1966150" y="1152655"/>
                </a:lnTo>
                <a:lnTo>
                  <a:pt x="0" y="1152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3965" y="7342677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WATERFALL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55007" y="6187028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DISADVANTAGES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55007" y="7007854"/>
            <a:ext cx="12567840" cy="2396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172" indent="-331086" lvl="1">
              <a:lnSpc>
                <a:spcPts val="3741"/>
              </a:lnSpc>
              <a:spcBef>
                <a:spcPct val="0"/>
              </a:spcBef>
              <a:buFont typeface="Arial"/>
              <a:buChar char="•"/>
            </a:pP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Difficult to adapt when unexpected change</a:t>
            </a: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 occur.</a:t>
            </a:r>
          </a:p>
          <a:p>
            <a:pPr algn="l" marL="662172" indent="-331086" lvl="1">
              <a:lnSpc>
                <a:spcPts val="3741"/>
              </a:lnSpc>
              <a:spcBef>
                <a:spcPct val="0"/>
              </a:spcBef>
              <a:buFont typeface="Arial"/>
              <a:buChar char="•"/>
            </a:pP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Plans can become outdated if requirements change.</a:t>
            </a:r>
          </a:p>
          <a:p>
            <a:pPr algn="l" marL="662172" indent="-331086" lvl="1">
              <a:lnSpc>
                <a:spcPts val="3741"/>
              </a:lnSpc>
              <a:spcBef>
                <a:spcPct val="0"/>
              </a:spcBef>
              <a:buFont typeface="Arial"/>
              <a:buChar char="•"/>
            </a:pP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</a:t>
            </a: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elays in technology or design can disrupt the entire schedule.</a:t>
            </a:r>
          </a:p>
          <a:p>
            <a:pPr algn="l" marL="662172" indent="-331086" lvl="1">
              <a:lnSpc>
                <a:spcPts val="3741"/>
              </a:lnSpc>
              <a:spcBef>
                <a:spcPct val="0"/>
              </a:spcBef>
              <a:buFont typeface="Arial"/>
              <a:buChar char="•"/>
            </a:pPr>
            <a:r>
              <a:rPr lang="en-US" sz="306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 some cases, it may eventually turn into a Code-and-Fix environment as teams rush to meet deadlines.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55007" y="3132740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WHY IS IT NOT ALWAYS SUITABLE FOR GAME DEVELOPMENT?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678" y="4755168"/>
            <a:ext cx="1966150" cy="1152656"/>
          </a:xfrm>
          <a:custGeom>
            <a:avLst/>
            <a:gdLst/>
            <a:ahLst/>
            <a:cxnLst/>
            <a:rect r="r" b="b" t="t" l="l"/>
            <a:pathLst>
              <a:path h="1152656" w="1966150">
                <a:moveTo>
                  <a:pt x="0" y="0"/>
                </a:moveTo>
                <a:lnTo>
                  <a:pt x="1966150" y="0"/>
                </a:lnTo>
                <a:lnTo>
                  <a:pt x="1966150" y="1152655"/>
                </a:lnTo>
                <a:lnTo>
                  <a:pt x="0" y="1152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3965" y="7342677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WATERFALL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10761" y="4464719"/>
            <a:ext cx="12669009" cy="367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47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 development is often unpredictable. Change</a:t>
            </a:r>
            <a:r>
              <a:rPr lang="en-US" sz="470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 in hardware, technology, or gameplay ideas can make the original plan ineffective, requiring the team to revise or abandon the initial schedule.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12409" y="2556439"/>
            <a:ext cx="12483144" cy="241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0"/>
              </a:lnSpc>
            </a:pPr>
            <a:r>
              <a:rPr lang="en-US" sz="384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a development approach where the game i</a:t>
            </a:r>
            <a:r>
              <a:rPr lang="en-US" sz="384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 built in small development cycles (iterations). After each cycle, the game is improved by adding new features and making necessary changes.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72958" y="4421495"/>
            <a:ext cx="1756157" cy="1679325"/>
          </a:xfrm>
          <a:custGeom>
            <a:avLst/>
            <a:gdLst/>
            <a:ahLst/>
            <a:cxnLst/>
            <a:rect r="r" b="b" t="t" l="l"/>
            <a:pathLst>
              <a:path h="1679325" w="1756157">
                <a:moveTo>
                  <a:pt x="0" y="0"/>
                </a:moveTo>
                <a:lnTo>
                  <a:pt x="1756157" y="0"/>
                </a:lnTo>
                <a:lnTo>
                  <a:pt x="1756157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9883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ITERATIVE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2610" y="5287085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HOW IT WORKS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12409" y="5940055"/>
            <a:ext cx="12483144" cy="33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334" indent="-337167" lvl="1">
              <a:lnSpc>
                <a:spcPts val="3810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Development is divided into short periods (usually 1–2 months).</a:t>
            </a:r>
          </a:p>
          <a:p>
            <a:pPr algn="l" marL="674334" indent="-337167" lvl="1">
              <a:lnSpc>
                <a:spcPts val="3810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Each iteration has a specific set of goals.</a:t>
            </a:r>
          </a:p>
          <a:p>
            <a:pPr algn="l" marL="674334" indent="-337167" lvl="1">
              <a:lnSpc>
                <a:spcPts val="3810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At the</a:t>
            </a: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end of each cycle, the game reaches a playable or stable state.</a:t>
            </a:r>
          </a:p>
          <a:p>
            <a:pPr algn="l" marL="674334" indent="-337167" lvl="1">
              <a:lnSpc>
                <a:spcPts val="3810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process repeats by adding new features and improvements in the next iteration.</a:t>
            </a:r>
          </a:p>
          <a:p>
            <a:pPr algn="l" marL="674334" indent="-337167" lvl="1">
              <a:lnSpc>
                <a:spcPts val="3810"/>
              </a:lnSpc>
              <a:buFont typeface="Arial"/>
              <a:buChar char="•"/>
            </a:pPr>
            <a:r>
              <a:rPr lang="en-US" sz="31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Each iteration often matches the publisher's milestones.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72958" y="4421495"/>
            <a:ext cx="1756157" cy="1679325"/>
          </a:xfrm>
          <a:custGeom>
            <a:avLst/>
            <a:gdLst/>
            <a:ahLst/>
            <a:cxnLst/>
            <a:rect r="r" b="b" t="t" l="l"/>
            <a:pathLst>
              <a:path h="1679325" w="1756157">
                <a:moveTo>
                  <a:pt x="0" y="0"/>
                </a:moveTo>
                <a:lnTo>
                  <a:pt x="1756157" y="0"/>
                </a:lnTo>
                <a:lnTo>
                  <a:pt x="1756157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21899" y="2892555"/>
            <a:ext cx="12289809" cy="6416530"/>
          </a:xfrm>
          <a:custGeom>
            <a:avLst/>
            <a:gdLst/>
            <a:ahLst/>
            <a:cxnLst/>
            <a:rect r="r" b="b" t="t" l="l"/>
            <a:pathLst>
              <a:path h="6416530" w="12289809">
                <a:moveTo>
                  <a:pt x="0" y="0"/>
                </a:moveTo>
                <a:lnTo>
                  <a:pt x="12289810" y="0"/>
                </a:lnTo>
                <a:lnTo>
                  <a:pt x="12289810" y="6416530"/>
                </a:lnTo>
                <a:lnTo>
                  <a:pt x="0" y="6416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3694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883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ITERATIVE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4412" y="4678670"/>
            <a:ext cx="11846832" cy="41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3"/>
              </a:lnSpc>
            </a:pPr>
            <a:r>
              <a:rPr lang="en-US" sz="442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game development team spends two months creating the ba</a:t>
            </a:r>
            <a:r>
              <a:rPr lang="en-US" sz="442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sic gameplay. After testing and feedback, they begin the next iteration by adding enemies, levels, and new features while improving the existing game.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72958" y="4421495"/>
            <a:ext cx="1756157" cy="1679325"/>
          </a:xfrm>
          <a:custGeom>
            <a:avLst/>
            <a:gdLst/>
            <a:ahLst/>
            <a:cxnLst/>
            <a:rect r="r" b="b" t="t" l="l"/>
            <a:pathLst>
              <a:path h="1679325" w="1756157">
                <a:moveTo>
                  <a:pt x="0" y="0"/>
                </a:moveTo>
                <a:lnTo>
                  <a:pt x="1756157" y="0"/>
                </a:lnTo>
                <a:lnTo>
                  <a:pt x="1756157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9883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ITERATIVE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74412" y="3180783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7001" y="3447563"/>
            <a:ext cx="12810205" cy="315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Allows planning while remaining flexible.</a:t>
            </a:r>
          </a:p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Encourages a proactive development process.</a:t>
            </a:r>
          </a:p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Makes it easier to adjust the </a:t>
            </a: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 based on progress or feedback.</a:t>
            </a:r>
          </a:p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Changes can be made without restarting the entire project.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72958" y="4421495"/>
            <a:ext cx="1756157" cy="1679325"/>
          </a:xfrm>
          <a:custGeom>
            <a:avLst/>
            <a:gdLst/>
            <a:ahLst/>
            <a:cxnLst/>
            <a:rect r="r" b="b" t="t" l="l"/>
            <a:pathLst>
              <a:path h="1679325" w="1756157">
                <a:moveTo>
                  <a:pt x="0" y="0"/>
                </a:moveTo>
                <a:lnTo>
                  <a:pt x="1756157" y="0"/>
                </a:lnTo>
                <a:lnTo>
                  <a:pt x="1756157" y="1679325"/>
                </a:lnTo>
                <a:lnTo>
                  <a:pt x="0" y="1679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9883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ITERATIVE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30906" y="2606761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ADVANTAGES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9874" y="7597167"/>
            <a:ext cx="12810205" cy="161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Requires careful management of each iteration.</a:t>
            </a:r>
          </a:p>
          <a:p>
            <a:pPr algn="l" marL="727395" indent="-363698" lvl="1">
              <a:lnSpc>
                <a:spcPts val="4110"/>
              </a:lnSpc>
              <a:buFont typeface="Arial"/>
              <a:buChar char="•"/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</a:t>
            </a: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ithout prop</a:t>
            </a: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er planning, repeated changes may extend the development schedule.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3779" y="6756365"/>
            <a:ext cx="12623594" cy="6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  <a:spcBef>
                <a:spcPct val="0"/>
              </a:spcBef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DISADVANTAGES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0473" y="2556439"/>
            <a:ext cx="12549605" cy="264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a development approach that accepts change as a normal part of game development. Instead of planning everything in advance, te</a:t>
            </a:r>
            <a:r>
              <a:rPr lang="en-US" sz="336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ams work in short development cycles and continuously adapt based on progress and new requirements.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77001" y="6212757"/>
            <a:ext cx="12862396" cy="33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Development is divided into short iterations (usually a few weeks).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Teams plan only for the current iteration instead of the entire project.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</a:t>
            </a: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 game is continuously improved through frequent testing and updates.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Changes can be made at any stage of development.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32348" y="5424617"/>
            <a:ext cx="12675025" cy="58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HOW IT WORKS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9858" y="4246405"/>
            <a:ext cx="1678462" cy="1641395"/>
          </a:xfrm>
          <a:custGeom>
            <a:avLst/>
            <a:gdLst/>
            <a:ahLst/>
            <a:cxnLst/>
            <a:rect r="r" b="b" t="t" l="l"/>
            <a:pathLst>
              <a:path h="1641395" w="1678462">
                <a:moveTo>
                  <a:pt x="0" y="0"/>
                </a:moveTo>
                <a:lnTo>
                  <a:pt x="1678462" y="0"/>
                </a:lnTo>
                <a:lnTo>
                  <a:pt x="1678462" y="1641395"/>
                </a:lnTo>
                <a:lnTo>
                  <a:pt x="0" y="16413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73965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AGILE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94435" y="4335770"/>
            <a:ext cx="12014899" cy="378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405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game development team plans features for the next three weeks. During development, a competing game introduces a popular feature. Instead of waiting until the next project, the te</a:t>
            </a:r>
            <a:r>
              <a:rPr lang="en-US" sz="405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am adjusts its plans and adds a similar feature in the next iteration.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74412" y="3457088"/>
            <a:ext cx="12675025" cy="58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19858" y="4246405"/>
            <a:ext cx="1678462" cy="1641395"/>
          </a:xfrm>
          <a:custGeom>
            <a:avLst/>
            <a:gdLst/>
            <a:ahLst/>
            <a:cxnLst/>
            <a:rect r="r" b="b" t="t" l="l"/>
            <a:pathLst>
              <a:path h="1641395" w="1678462">
                <a:moveTo>
                  <a:pt x="0" y="0"/>
                </a:moveTo>
                <a:lnTo>
                  <a:pt x="1678462" y="0"/>
                </a:lnTo>
                <a:lnTo>
                  <a:pt x="1678462" y="1641395"/>
                </a:lnTo>
                <a:lnTo>
                  <a:pt x="0" y="16413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3965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AGILE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9883" y="3533288"/>
            <a:ext cx="2926237" cy="3107008"/>
          </a:xfrm>
          <a:custGeom>
            <a:avLst/>
            <a:gdLst/>
            <a:ahLst/>
            <a:cxnLst/>
            <a:rect r="r" b="b" t="t" l="l"/>
            <a:pathLst>
              <a:path h="3107008" w="2926237">
                <a:moveTo>
                  <a:pt x="0" y="0"/>
                </a:moveTo>
                <a:lnTo>
                  <a:pt x="2926237" y="0"/>
                </a:lnTo>
                <a:lnTo>
                  <a:pt x="2926237" y="3107009"/>
                </a:lnTo>
                <a:lnTo>
                  <a:pt x="0" y="31070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8205" y="7075534"/>
            <a:ext cx="3397757" cy="1244429"/>
          </a:xfrm>
          <a:custGeom>
            <a:avLst/>
            <a:gdLst/>
            <a:ahLst/>
            <a:cxnLst/>
            <a:rect r="r" b="b" t="t" l="l"/>
            <a:pathLst>
              <a:path h="1244429" w="3397757">
                <a:moveTo>
                  <a:pt x="0" y="0"/>
                </a:moveTo>
                <a:lnTo>
                  <a:pt x="3397757" y="0"/>
                </a:lnTo>
                <a:lnTo>
                  <a:pt x="3397757" y="1244429"/>
                </a:lnTo>
                <a:lnTo>
                  <a:pt x="0" y="1244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726235" y="2249239"/>
            <a:ext cx="13081137" cy="7693741"/>
            <a:chOff x="0" y="0"/>
            <a:chExt cx="17441517" cy="102583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1517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441517">
                  <a:moveTo>
                    <a:pt x="196527" y="0"/>
                  </a:moveTo>
                  <a:lnTo>
                    <a:pt x="17244989" y="0"/>
                  </a:lnTo>
                  <a:cubicBezTo>
                    <a:pt x="17353528" y="0"/>
                    <a:pt x="17441517" y="87988"/>
                    <a:pt x="17441517" y="196527"/>
                  </a:cubicBezTo>
                  <a:lnTo>
                    <a:pt x="17441517" y="10061794"/>
                  </a:lnTo>
                  <a:cubicBezTo>
                    <a:pt x="17441517" y="10170333"/>
                    <a:pt x="17353528" y="10258322"/>
                    <a:pt x="17244989" y="10258322"/>
                  </a:cubicBezTo>
                  <a:lnTo>
                    <a:pt x="196527" y="10258322"/>
                  </a:lnTo>
                  <a:cubicBezTo>
                    <a:pt x="87988" y="10258322"/>
                    <a:pt x="0" y="10170333"/>
                    <a:pt x="0" y="10061794"/>
                  </a:cubicBezTo>
                  <a:lnTo>
                    <a:pt x="0" y="196527"/>
                  </a:lnTo>
                  <a:cubicBezTo>
                    <a:pt x="0" y="87988"/>
                    <a:pt x="87988" y="0"/>
                    <a:pt x="19652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441517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460" y="729808"/>
            <a:ext cx="8316912" cy="87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57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51618" y="3452833"/>
            <a:ext cx="12862396" cy="287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Easily adapts to changing requirements.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</a:t>
            </a: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ncourages continuous improvement.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Keeps the team aware of project progr</a:t>
            </a: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ess and priorities.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Flexible when unexpected events occur, such as new technology or changes in the team.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Well-suited for the unpredictable nature of game development.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6965" y="2664692"/>
            <a:ext cx="12675025" cy="58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ADVANTAGES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19858" y="4246405"/>
            <a:ext cx="1678462" cy="1641395"/>
          </a:xfrm>
          <a:custGeom>
            <a:avLst/>
            <a:gdLst/>
            <a:ahLst/>
            <a:cxnLst/>
            <a:rect r="r" b="b" t="t" l="l"/>
            <a:pathLst>
              <a:path h="1641395" w="1678462">
                <a:moveTo>
                  <a:pt x="0" y="0"/>
                </a:moveTo>
                <a:lnTo>
                  <a:pt x="1678462" y="0"/>
                </a:lnTo>
                <a:lnTo>
                  <a:pt x="1678462" y="1641395"/>
                </a:lnTo>
                <a:lnTo>
                  <a:pt x="0" y="16413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3965" y="7358391"/>
            <a:ext cx="2926237" cy="6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7"/>
              </a:lnSpc>
            </a:pPr>
            <a:r>
              <a:rPr lang="en-US" sz="368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AGILE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29292" y="7392794"/>
            <a:ext cx="12862396" cy="193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Some publishers or stakeholders may find it difficult to accept because planning is l</a:t>
            </a: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ess rigid.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Requires a flexible mindset from the entire team.</a:t>
            </a:r>
          </a:p>
          <a:p>
            <a:pPr algn="l" marL="666051" indent="-333025" lvl="1">
              <a:lnSpc>
                <a:spcPts val="3763"/>
              </a:lnSpc>
              <a:buFont typeface="Arial"/>
              <a:buChar char="•"/>
            </a:pPr>
            <a:r>
              <a:rPr lang="en-US" sz="3084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Long-term schedules and milestone dates are less predictable.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4639" y="6604653"/>
            <a:ext cx="12675025" cy="58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DISADVANTAGES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07488" y="2245188"/>
            <a:ext cx="2273023" cy="554049"/>
          </a:xfrm>
          <a:custGeom>
            <a:avLst/>
            <a:gdLst/>
            <a:ahLst/>
            <a:cxnLst/>
            <a:rect r="r" b="b" t="t" l="l"/>
            <a:pathLst>
              <a:path h="554049" w="2273023">
                <a:moveTo>
                  <a:pt x="0" y="0"/>
                </a:moveTo>
                <a:lnTo>
                  <a:pt x="2273024" y="0"/>
                </a:lnTo>
                <a:lnTo>
                  <a:pt x="2273024" y="554049"/>
                </a:lnTo>
                <a:lnTo>
                  <a:pt x="0" y="554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9847" y="1354063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42654" y="1091878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75428" y="6488625"/>
            <a:ext cx="1491121" cy="1952368"/>
          </a:xfrm>
          <a:custGeom>
            <a:avLst/>
            <a:gdLst/>
            <a:ahLst/>
            <a:cxnLst/>
            <a:rect r="r" b="b" t="t" l="l"/>
            <a:pathLst>
              <a:path h="1952368" w="1491121">
                <a:moveTo>
                  <a:pt x="0" y="0"/>
                </a:moveTo>
                <a:lnTo>
                  <a:pt x="1491121" y="0"/>
                </a:lnTo>
                <a:lnTo>
                  <a:pt x="1491121" y="1952369"/>
                </a:lnTo>
                <a:lnTo>
                  <a:pt x="0" y="19523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7732" y="3929903"/>
            <a:ext cx="11072535" cy="241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6"/>
              </a:lnSpc>
            </a:pPr>
            <a:r>
              <a:rPr lang="en-US" sz="5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</a:t>
            </a:r>
            <a:r>
              <a:rPr lang="en-US" sz="5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4219" y="9258300"/>
            <a:ext cx="2800686" cy="465614"/>
          </a:xfrm>
          <a:custGeom>
            <a:avLst/>
            <a:gdLst/>
            <a:ahLst/>
            <a:cxnLst/>
            <a:rect r="r" b="b" t="t" l="l"/>
            <a:pathLst>
              <a:path h="465614" w="2800686">
                <a:moveTo>
                  <a:pt x="0" y="0"/>
                </a:moveTo>
                <a:lnTo>
                  <a:pt x="2800687" y="0"/>
                </a:lnTo>
                <a:lnTo>
                  <a:pt x="2800687" y="465614"/>
                </a:lnTo>
                <a:lnTo>
                  <a:pt x="0" y="465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0036" y="8588016"/>
            <a:ext cx="1529053" cy="896407"/>
          </a:xfrm>
          <a:custGeom>
            <a:avLst/>
            <a:gdLst/>
            <a:ahLst/>
            <a:cxnLst/>
            <a:rect r="r" b="b" t="t" l="l"/>
            <a:pathLst>
              <a:path h="896407" w="1529053">
                <a:moveTo>
                  <a:pt x="0" y="0"/>
                </a:moveTo>
                <a:lnTo>
                  <a:pt x="1529053" y="0"/>
                </a:lnTo>
                <a:lnTo>
                  <a:pt x="1529053" y="896407"/>
                </a:lnTo>
                <a:lnTo>
                  <a:pt x="0" y="89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79759" y="8588016"/>
            <a:ext cx="2800686" cy="465614"/>
          </a:xfrm>
          <a:custGeom>
            <a:avLst/>
            <a:gdLst/>
            <a:ahLst/>
            <a:cxnLst/>
            <a:rect r="r" b="b" t="t" l="l"/>
            <a:pathLst>
              <a:path h="465614" w="2800686">
                <a:moveTo>
                  <a:pt x="0" y="0"/>
                </a:moveTo>
                <a:lnTo>
                  <a:pt x="2800687" y="0"/>
                </a:lnTo>
                <a:lnTo>
                  <a:pt x="2800687" y="465614"/>
                </a:lnTo>
                <a:lnTo>
                  <a:pt x="0" y="465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52054" y="7464809"/>
            <a:ext cx="1456098" cy="1403314"/>
          </a:xfrm>
          <a:custGeom>
            <a:avLst/>
            <a:gdLst/>
            <a:ahLst/>
            <a:cxnLst/>
            <a:rect r="r" b="b" t="t" l="l"/>
            <a:pathLst>
              <a:path h="1403314" w="1456098">
                <a:moveTo>
                  <a:pt x="0" y="0"/>
                </a:moveTo>
                <a:lnTo>
                  <a:pt x="1456097" y="0"/>
                </a:lnTo>
                <a:lnTo>
                  <a:pt x="1456097" y="1403315"/>
                </a:lnTo>
                <a:lnTo>
                  <a:pt x="0" y="1403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1108" y="2330682"/>
            <a:ext cx="16805785" cy="7105158"/>
          </a:xfrm>
          <a:custGeom>
            <a:avLst/>
            <a:gdLst/>
            <a:ahLst/>
            <a:cxnLst/>
            <a:rect r="r" b="b" t="t" l="l"/>
            <a:pathLst>
              <a:path h="7105158" w="16805785">
                <a:moveTo>
                  <a:pt x="0" y="0"/>
                </a:moveTo>
                <a:lnTo>
                  <a:pt x="16805784" y="0"/>
                </a:lnTo>
                <a:lnTo>
                  <a:pt x="16805784" y="7105159"/>
                </a:lnTo>
                <a:lnTo>
                  <a:pt x="0" y="71051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3563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0790" y="3066400"/>
            <a:ext cx="3885491" cy="1942746"/>
          </a:xfrm>
          <a:custGeom>
            <a:avLst/>
            <a:gdLst/>
            <a:ahLst/>
            <a:cxnLst/>
            <a:rect r="r" b="b" t="t" l="l"/>
            <a:pathLst>
              <a:path h="1942746" w="3885491">
                <a:moveTo>
                  <a:pt x="0" y="0"/>
                </a:moveTo>
                <a:lnTo>
                  <a:pt x="3885492" y="0"/>
                </a:lnTo>
                <a:lnTo>
                  <a:pt x="3885492" y="1942746"/>
                </a:lnTo>
                <a:lnTo>
                  <a:pt x="0" y="19427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361" y="3651006"/>
            <a:ext cx="2880350" cy="86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3"/>
              </a:lnSpc>
            </a:pPr>
            <a:r>
              <a:rPr lang="en-US" sz="49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INITIATION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0790" y="5206551"/>
            <a:ext cx="11453910" cy="4994926"/>
            <a:chOff x="0" y="0"/>
            <a:chExt cx="23523450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23449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23523449">
                  <a:moveTo>
                    <a:pt x="224447" y="0"/>
                  </a:moveTo>
                  <a:lnTo>
                    <a:pt x="23299003" y="0"/>
                  </a:lnTo>
                  <a:cubicBezTo>
                    <a:pt x="23422961" y="0"/>
                    <a:pt x="23523449" y="100489"/>
                    <a:pt x="23523449" y="224447"/>
                  </a:cubicBezTo>
                  <a:lnTo>
                    <a:pt x="23523449" y="10033874"/>
                  </a:lnTo>
                  <a:cubicBezTo>
                    <a:pt x="23523449" y="10093402"/>
                    <a:pt x="23499803" y="10150491"/>
                    <a:pt x="23457711" y="10192583"/>
                  </a:cubicBezTo>
                  <a:cubicBezTo>
                    <a:pt x="23415619" y="10234675"/>
                    <a:pt x="23358529" y="10258322"/>
                    <a:pt x="23299003" y="10258322"/>
                  </a:cubicBezTo>
                  <a:lnTo>
                    <a:pt x="224447" y="10258322"/>
                  </a:lnTo>
                  <a:cubicBezTo>
                    <a:pt x="164920" y="10258322"/>
                    <a:pt x="107831" y="10234675"/>
                    <a:pt x="65739" y="10192583"/>
                  </a:cubicBezTo>
                  <a:cubicBezTo>
                    <a:pt x="23647" y="10150491"/>
                    <a:pt x="0" y="10093402"/>
                    <a:pt x="0" y="10033874"/>
                  </a:cubicBezTo>
                  <a:lnTo>
                    <a:pt x="0" y="224447"/>
                  </a:lnTo>
                  <a:cubicBezTo>
                    <a:pt x="0" y="164920"/>
                    <a:pt x="23647" y="107831"/>
                    <a:pt x="65739" y="65739"/>
                  </a:cubicBezTo>
                  <a:cubicBezTo>
                    <a:pt x="107831" y="23647"/>
                    <a:pt x="164920" y="0"/>
                    <a:pt x="22444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523450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35137" y="5637539"/>
            <a:ext cx="9897460" cy="406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2"/>
              </a:lnSpc>
            </a:pPr>
            <a:r>
              <a:rPr lang="en-US" sz="513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first step in game development is creating a game concept. The output is a basic game concept and a brief game description.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159" y="2441598"/>
            <a:ext cx="4753253" cy="2376626"/>
          </a:xfrm>
          <a:custGeom>
            <a:avLst/>
            <a:gdLst/>
            <a:ahLst/>
            <a:cxnLst/>
            <a:rect r="r" b="b" t="t" l="l"/>
            <a:pathLst>
              <a:path h="2376626" w="4753253">
                <a:moveTo>
                  <a:pt x="0" y="0"/>
                </a:moveTo>
                <a:lnTo>
                  <a:pt x="4753253" y="0"/>
                </a:lnTo>
                <a:lnTo>
                  <a:pt x="4753253" y="2376626"/>
                </a:lnTo>
                <a:lnTo>
                  <a:pt x="0" y="2376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13" y="3281244"/>
            <a:ext cx="38650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PRE-PRODUCTION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1159" y="5065874"/>
            <a:ext cx="8668507" cy="4994926"/>
            <a:chOff x="0" y="0"/>
            <a:chExt cx="17802933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02933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9961754"/>
                  </a:lnTo>
                  <a:cubicBezTo>
                    <a:pt x="17802933" y="10125544"/>
                    <a:pt x="17670156" y="10258322"/>
                    <a:pt x="17506366" y="10258322"/>
                  </a:cubicBezTo>
                  <a:lnTo>
                    <a:pt x="296568" y="10258322"/>
                  </a:lnTo>
                  <a:cubicBezTo>
                    <a:pt x="217913" y="10258322"/>
                    <a:pt x="142480" y="10227077"/>
                    <a:pt x="86863" y="10171459"/>
                  </a:cubicBezTo>
                  <a:cubicBezTo>
                    <a:pt x="31245" y="10115842"/>
                    <a:pt x="0" y="10040409"/>
                    <a:pt x="0" y="9961754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802933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9069" y="5309879"/>
            <a:ext cx="830868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the phase where the game is planned, designed, and tested before full development begins.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293" y="7407659"/>
            <a:ext cx="7917048" cy="21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Create and refine the Game Design Document (GDD).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Define the game's genre, gameplay, mechanics, storyline, characters, challenges, and technical requirements.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 prototypes to evaluate and improve the game design.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69" y="6749650"/>
            <a:ext cx="3217974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ACTIVITIES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3664" y="2780650"/>
            <a:ext cx="8668507" cy="7280150"/>
            <a:chOff x="0" y="0"/>
            <a:chExt cx="17802933" cy="14951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02933" cy="14951597"/>
            </a:xfrm>
            <a:custGeom>
              <a:avLst/>
              <a:gdLst/>
              <a:ahLst/>
              <a:cxnLst/>
              <a:rect r="r" b="b" t="t" l="l"/>
              <a:pathLst>
                <a:path h="14951597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14655030"/>
                  </a:lnTo>
                  <a:cubicBezTo>
                    <a:pt x="17802933" y="14733684"/>
                    <a:pt x="17771687" y="14809118"/>
                    <a:pt x="17716071" y="14864735"/>
                  </a:cubicBezTo>
                  <a:cubicBezTo>
                    <a:pt x="17660454" y="14920351"/>
                    <a:pt x="17585020" y="14951597"/>
                    <a:pt x="17506366" y="14951597"/>
                  </a:cubicBezTo>
                  <a:lnTo>
                    <a:pt x="296568" y="14951597"/>
                  </a:lnTo>
                  <a:cubicBezTo>
                    <a:pt x="217913" y="14951597"/>
                    <a:pt x="142480" y="14920351"/>
                    <a:pt x="86863" y="14864735"/>
                  </a:cubicBezTo>
                  <a:cubicBezTo>
                    <a:pt x="31245" y="14809118"/>
                    <a:pt x="0" y="14733684"/>
                    <a:pt x="0" y="14655030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802933" cy="1498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75401" y="3008778"/>
            <a:ext cx="5103045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TYPES OF PROTOTYPES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9393" y="3734686"/>
            <a:ext cx="7917048" cy="289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Foundation Prototype – Demonstrates the core gameplay and overall game concept. It is evaluated for its fun factor through discussions or questionnaires.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Structur</a:t>
            </a: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 Prototype – Expands the foundation by including core mechanics, game rules, and functionality. It is evaluated through playtesting and user feedback.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9393" y="6756365"/>
            <a:ext cx="20362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3488" y="7615623"/>
            <a:ext cx="793295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phase ends when the game design is finalized, approved, and documented in the Game Design Document (GDD).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159" y="2441598"/>
            <a:ext cx="4753253" cy="2376626"/>
          </a:xfrm>
          <a:custGeom>
            <a:avLst/>
            <a:gdLst/>
            <a:ahLst/>
            <a:cxnLst/>
            <a:rect r="r" b="b" t="t" l="l"/>
            <a:pathLst>
              <a:path h="2376626" w="4753253">
                <a:moveTo>
                  <a:pt x="0" y="0"/>
                </a:moveTo>
                <a:lnTo>
                  <a:pt x="4753253" y="0"/>
                </a:lnTo>
                <a:lnTo>
                  <a:pt x="4753253" y="2376626"/>
                </a:lnTo>
                <a:lnTo>
                  <a:pt x="0" y="2376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13" y="3281244"/>
            <a:ext cx="38650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PRODUCTION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1159" y="5065874"/>
            <a:ext cx="8668507" cy="4994926"/>
            <a:chOff x="0" y="0"/>
            <a:chExt cx="17802933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02933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9961754"/>
                  </a:lnTo>
                  <a:cubicBezTo>
                    <a:pt x="17802933" y="10125544"/>
                    <a:pt x="17670156" y="10258322"/>
                    <a:pt x="17506366" y="10258322"/>
                  </a:cubicBezTo>
                  <a:lnTo>
                    <a:pt x="296568" y="10258322"/>
                  </a:lnTo>
                  <a:cubicBezTo>
                    <a:pt x="217913" y="10258322"/>
                    <a:pt x="142480" y="10227077"/>
                    <a:pt x="86863" y="10171459"/>
                  </a:cubicBezTo>
                  <a:cubicBezTo>
                    <a:pt x="31245" y="10115842"/>
                    <a:pt x="0" y="10040409"/>
                    <a:pt x="0" y="9961754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802933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9069" y="5309879"/>
            <a:ext cx="830868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the main development phase where the game is built by creating assets, writing source code, and integrating all game components.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293" y="7407659"/>
            <a:ext cx="7917048" cy="21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Create game assets (graphics, audio, animations, etc.).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Develop and integrate source code.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Balance gameplay to ensure appropriate difficulty.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Add</a:t>
            </a: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new features and improve game performance.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Test and fix bugs.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69" y="6749650"/>
            <a:ext cx="3217974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ACTIVITIES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3664" y="2780650"/>
            <a:ext cx="8668507" cy="7280150"/>
            <a:chOff x="0" y="0"/>
            <a:chExt cx="17802933" cy="14951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02933" cy="14951597"/>
            </a:xfrm>
            <a:custGeom>
              <a:avLst/>
              <a:gdLst/>
              <a:ahLst/>
              <a:cxnLst/>
              <a:rect r="r" b="b" t="t" l="l"/>
              <a:pathLst>
                <a:path h="14951597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14655030"/>
                  </a:lnTo>
                  <a:cubicBezTo>
                    <a:pt x="17802933" y="14733684"/>
                    <a:pt x="17771687" y="14809118"/>
                    <a:pt x="17716071" y="14864735"/>
                  </a:cubicBezTo>
                  <a:cubicBezTo>
                    <a:pt x="17660454" y="14920351"/>
                    <a:pt x="17585020" y="14951597"/>
                    <a:pt x="17506366" y="14951597"/>
                  </a:cubicBezTo>
                  <a:lnTo>
                    <a:pt x="296568" y="14951597"/>
                  </a:lnTo>
                  <a:cubicBezTo>
                    <a:pt x="217913" y="14951597"/>
                    <a:pt x="142480" y="14920351"/>
                    <a:pt x="86863" y="14864735"/>
                  </a:cubicBezTo>
                  <a:cubicBezTo>
                    <a:pt x="31245" y="14809118"/>
                    <a:pt x="0" y="14733684"/>
                    <a:pt x="0" y="14655030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802933" cy="1498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75401" y="3008778"/>
            <a:ext cx="5103045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TYPES OF PROTOTYPES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9393" y="3734686"/>
            <a:ext cx="7917048" cy="25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Formal Details – A more complete version of the game with refined mechanics and assets. It focuses on game balance, functionality, and performance.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Refinement – The final prototype where the game is polished by improving gameplay, challenge, accessibility, and overall player experience. Only minor changes are made during this stage.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9393" y="6756365"/>
            <a:ext cx="20362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3488" y="7615623"/>
            <a:ext cx="793295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phase ends with a fully functional and polished game that is ready for final testing and release.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159" y="2441598"/>
            <a:ext cx="4753253" cy="2376626"/>
          </a:xfrm>
          <a:custGeom>
            <a:avLst/>
            <a:gdLst/>
            <a:ahLst/>
            <a:cxnLst/>
            <a:rect r="r" b="b" t="t" l="l"/>
            <a:pathLst>
              <a:path h="2376626" w="4753253">
                <a:moveTo>
                  <a:pt x="0" y="0"/>
                </a:moveTo>
                <a:lnTo>
                  <a:pt x="4753253" y="0"/>
                </a:lnTo>
                <a:lnTo>
                  <a:pt x="4753253" y="2376626"/>
                </a:lnTo>
                <a:lnTo>
                  <a:pt x="0" y="2376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13" y="3281244"/>
            <a:ext cx="38650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TESTING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1159" y="5065874"/>
            <a:ext cx="8668507" cy="4994926"/>
            <a:chOff x="0" y="0"/>
            <a:chExt cx="17802933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02933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9961754"/>
                  </a:lnTo>
                  <a:cubicBezTo>
                    <a:pt x="17802933" y="10125544"/>
                    <a:pt x="17670156" y="10258322"/>
                    <a:pt x="17506366" y="10258322"/>
                  </a:cubicBezTo>
                  <a:lnTo>
                    <a:pt x="296568" y="10258322"/>
                  </a:lnTo>
                  <a:cubicBezTo>
                    <a:pt x="217913" y="10258322"/>
                    <a:pt x="142480" y="10227077"/>
                    <a:pt x="86863" y="10171459"/>
                  </a:cubicBezTo>
                  <a:cubicBezTo>
                    <a:pt x="31245" y="10115842"/>
                    <a:pt x="0" y="10040409"/>
                    <a:pt x="0" y="9961754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802933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9069" y="5309879"/>
            <a:ext cx="830868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the phase where the game is evaluated internally to ensure it is functional, balanced, enjoyable, and easy to use before release.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293" y="7407659"/>
            <a:ext cx="7917048" cy="25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Conduct playtesting to evaluate gameplay and usability.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Test game features and functionality.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Id</a:t>
            </a: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entify, document, and fix bugs, errors, and gameplay issues.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Evaluate game balance, fun, and accessibility.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Gath</a:t>
            </a: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er feedback from testers and developers.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69" y="6749650"/>
            <a:ext cx="3217974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ACTIVITIES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3664" y="2780650"/>
            <a:ext cx="8668507" cy="7280150"/>
            <a:chOff x="0" y="0"/>
            <a:chExt cx="17802933" cy="14951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02933" cy="14951597"/>
            </a:xfrm>
            <a:custGeom>
              <a:avLst/>
              <a:gdLst/>
              <a:ahLst/>
              <a:cxnLst/>
              <a:rect r="r" b="b" t="t" l="l"/>
              <a:pathLst>
                <a:path h="14951597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14655030"/>
                  </a:lnTo>
                  <a:cubicBezTo>
                    <a:pt x="17802933" y="14733684"/>
                    <a:pt x="17771687" y="14809118"/>
                    <a:pt x="17716071" y="14864735"/>
                  </a:cubicBezTo>
                  <a:cubicBezTo>
                    <a:pt x="17660454" y="14920351"/>
                    <a:pt x="17585020" y="14951597"/>
                    <a:pt x="17506366" y="14951597"/>
                  </a:cubicBezTo>
                  <a:lnTo>
                    <a:pt x="296568" y="14951597"/>
                  </a:lnTo>
                  <a:cubicBezTo>
                    <a:pt x="217913" y="14951597"/>
                    <a:pt x="142480" y="14920351"/>
                    <a:pt x="86863" y="14864735"/>
                  </a:cubicBezTo>
                  <a:cubicBezTo>
                    <a:pt x="31245" y="14809118"/>
                    <a:pt x="0" y="14733684"/>
                    <a:pt x="0" y="14655030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802933" cy="1498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75401" y="3008778"/>
            <a:ext cx="5103045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TYPES OF PROTOTYPES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9393" y="3734686"/>
            <a:ext cx="7917048" cy="21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Formal Details Testing – Focuses on functionality, game balance, and identifying bugs through playtesting.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Refinement Testing – Focuses on the game's fun factor and accessibility by observing players and collecting feedback.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9393" y="6756365"/>
            <a:ext cx="20362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3488" y="7615623"/>
            <a:ext cx="7932953" cy="220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phase produces bug reports, change requests, and development decisions, which determine whether the game is ready for the Beta phase or requires another production cycle.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159" y="2441598"/>
            <a:ext cx="4753253" cy="2376626"/>
          </a:xfrm>
          <a:custGeom>
            <a:avLst/>
            <a:gdLst/>
            <a:ahLst/>
            <a:cxnLst/>
            <a:rect r="r" b="b" t="t" l="l"/>
            <a:pathLst>
              <a:path h="2376626" w="4753253">
                <a:moveTo>
                  <a:pt x="0" y="0"/>
                </a:moveTo>
                <a:lnTo>
                  <a:pt x="4753253" y="0"/>
                </a:lnTo>
                <a:lnTo>
                  <a:pt x="4753253" y="2376626"/>
                </a:lnTo>
                <a:lnTo>
                  <a:pt x="0" y="2376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13" y="3281244"/>
            <a:ext cx="38650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BETA TESTING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1159" y="5065874"/>
            <a:ext cx="8668507" cy="4994926"/>
            <a:chOff x="0" y="0"/>
            <a:chExt cx="17802933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02933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9961754"/>
                  </a:lnTo>
                  <a:cubicBezTo>
                    <a:pt x="17802933" y="10125544"/>
                    <a:pt x="17670156" y="10258322"/>
                    <a:pt x="17506366" y="10258322"/>
                  </a:cubicBezTo>
                  <a:lnTo>
                    <a:pt x="296568" y="10258322"/>
                  </a:lnTo>
                  <a:cubicBezTo>
                    <a:pt x="217913" y="10258322"/>
                    <a:pt x="142480" y="10227077"/>
                    <a:pt x="86863" y="10171459"/>
                  </a:cubicBezTo>
                  <a:cubicBezTo>
                    <a:pt x="31245" y="10115842"/>
                    <a:pt x="0" y="10040409"/>
                    <a:pt x="0" y="9961754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802933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59069" y="5309879"/>
            <a:ext cx="8308683" cy="134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the phase where the game is tested by external testers to identify remaining issues and gather user feedback before release.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293" y="7407659"/>
            <a:ext cx="7917048" cy="21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Conduct beta testing with external users.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Identify and report bugs and errors.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Collect player feedback on gameplay and user experience.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Evaluate the game's functionality, fun, and accessibility.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69" y="6749650"/>
            <a:ext cx="3217974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ACTIVITIES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3664" y="2780650"/>
            <a:ext cx="8668507" cy="7280150"/>
            <a:chOff x="0" y="0"/>
            <a:chExt cx="17802933" cy="14951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02933" cy="14951597"/>
            </a:xfrm>
            <a:custGeom>
              <a:avLst/>
              <a:gdLst/>
              <a:ahLst/>
              <a:cxnLst/>
              <a:rect r="r" b="b" t="t" l="l"/>
              <a:pathLst>
                <a:path h="14951597" w="17802933">
                  <a:moveTo>
                    <a:pt x="296568" y="0"/>
                  </a:moveTo>
                  <a:lnTo>
                    <a:pt x="17506366" y="0"/>
                  </a:lnTo>
                  <a:cubicBezTo>
                    <a:pt x="17670156" y="0"/>
                    <a:pt x="17802933" y="132778"/>
                    <a:pt x="17802933" y="296568"/>
                  </a:cubicBezTo>
                  <a:lnTo>
                    <a:pt x="17802933" y="14655030"/>
                  </a:lnTo>
                  <a:cubicBezTo>
                    <a:pt x="17802933" y="14733684"/>
                    <a:pt x="17771687" y="14809118"/>
                    <a:pt x="17716071" y="14864735"/>
                  </a:cubicBezTo>
                  <a:cubicBezTo>
                    <a:pt x="17660454" y="14920351"/>
                    <a:pt x="17585020" y="14951597"/>
                    <a:pt x="17506366" y="14951597"/>
                  </a:cubicBezTo>
                  <a:lnTo>
                    <a:pt x="296568" y="14951597"/>
                  </a:lnTo>
                  <a:cubicBezTo>
                    <a:pt x="217913" y="14951597"/>
                    <a:pt x="142480" y="14920351"/>
                    <a:pt x="86863" y="14864735"/>
                  </a:cubicBezTo>
                  <a:cubicBezTo>
                    <a:pt x="31245" y="14809118"/>
                    <a:pt x="0" y="14733684"/>
                    <a:pt x="0" y="14655030"/>
                  </a:cubicBezTo>
                  <a:lnTo>
                    <a:pt x="0" y="296568"/>
                  </a:lnTo>
                  <a:cubicBezTo>
                    <a:pt x="0" y="217913"/>
                    <a:pt x="31245" y="142480"/>
                    <a:pt x="86863" y="86863"/>
                  </a:cubicBezTo>
                  <a:cubicBezTo>
                    <a:pt x="142480" y="31245"/>
                    <a:pt x="217913" y="0"/>
                    <a:pt x="2965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802933" cy="1498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75401" y="3008778"/>
            <a:ext cx="5103045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TYPES OF PROTOTYPES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9393" y="3734686"/>
            <a:ext cx="7917048" cy="147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Closed Beta – Only invited participants are allowed to test the game.</a:t>
            </a:r>
          </a:p>
          <a:p>
            <a:pPr algn="l" marL="499211" indent="-249606" lvl="1">
              <a:lnSpc>
                <a:spcPts val="2820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Op</a:t>
            </a:r>
            <a:r>
              <a:rPr lang="en-US" sz="231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en Beta – Anyone who registers can participate in the testing.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9393" y="6756365"/>
            <a:ext cx="20362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3488" y="7615623"/>
            <a:ext cx="7932953" cy="220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79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phase produces bug reports and user feedback, which determine whether the game returns to the Production phase for further improvements or proceeds to the Release phase.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9089" y="1695988"/>
            <a:ext cx="13617326" cy="10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2"/>
              </a:lnSpc>
            </a:pPr>
            <a:r>
              <a:rPr lang="en-US" sz="3607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LIFE CYCLE (GDLC)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159" y="2441598"/>
            <a:ext cx="4753253" cy="2376626"/>
          </a:xfrm>
          <a:custGeom>
            <a:avLst/>
            <a:gdLst/>
            <a:ahLst/>
            <a:cxnLst/>
            <a:rect r="r" b="b" t="t" l="l"/>
            <a:pathLst>
              <a:path h="2376626" w="4753253">
                <a:moveTo>
                  <a:pt x="0" y="0"/>
                </a:moveTo>
                <a:lnTo>
                  <a:pt x="4753253" y="0"/>
                </a:lnTo>
                <a:lnTo>
                  <a:pt x="4753253" y="2376626"/>
                </a:lnTo>
                <a:lnTo>
                  <a:pt x="0" y="2376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1913" y="3281244"/>
            <a:ext cx="3865088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RELEASE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1159" y="5065874"/>
            <a:ext cx="13367116" cy="4994926"/>
            <a:chOff x="0" y="0"/>
            <a:chExt cx="27452694" cy="10258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52693" cy="10258322"/>
            </a:xfrm>
            <a:custGeom>
              <a:avLst/>
              <a:gdLst/>
              <a:ahLst/>
              <a:cxnLst/>
              <a:rect r="r" b="b" t="t" l="l"/>
              <a:pathLst>
                <a:path h="10258322" w="27452693">
                  <a:moveTo>
                    <a:pt x="192323" y="0"/>
                  </a:moveTo>
                  <a:lnTo>
                    <a:pt x="27260370" y="0"/>
                  </a:lnTo>
                  <a:cubicBezTo>
                    <a:pt x="27366587" y="0"/>
                    <a:pt x="27452693" y="86106"/>
                    <a:pt x="27452693" y="192323"/>
                  </a:cubicBezTo>
                  <a:lnTo>
                    <a:pt x="27452693" y="10065999"/>
                  </a:lnTo>
                  <a:cubicBezTo>
                    <a:pt x="27452693" y="10172216"/>
                    <a:pt x="27366587" y="10258322"/>
                    <a:pt x="27260370" y="10258322"/>
                  </a:cubicBezTo>
                  <a:lnTo>
                    <a:pt x="192323" y="10258322"/>
                  </a:lnTo>
                  <a:cubicBezTo>
                    <a:pt x="141316" y="10258322"/>
                    <a:pt x="92398" y="10238060"/>
                    <a:pt x="56330" y="10201992"/>
                  </a:cubicBezTo>
                  <a:cubicBezTo>
                    <a:pt x="20263" y="10165924"/>
                    <a:pt x="0" y="10117007"/>
                    <a:pt x="0" y="10065999"/>
                  </a:cubicBezTo>
                  <a:lnTo>
                    <a:pt x="0" y="192323"/>
                  </a:lnTo>
                  <a:cubicBezTo>
                    <a:pt x="0" y="86106"/>
                    <a:pt x="86106" y="0"/>
                    <a:pt x="1923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452694" cy="1029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6694" y="5421981"/>
            <a:ext cx="12523746" cy="397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4"/>
              </a:lnSpc>
            </a:pPr>
            <a:r>
              <a:rPr lang="en-US" sz="42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 is time when the game build has reach final stage and ready to be released to public. Release involves product launching, project documentation, knowledge sharing, post-mortems, and planning for maintenance and game expansion.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59646" y="4162388"/>
            <a:ext cx="7768709" cy="3884354"/>
          </a:xfrm>
          <a:custGeom>
            <a:avLst/>
            <a:gdLst/>
            <a:ahLst/>
            <a:cxnLst/>
            <a:rect r="r" b="b" t="t" l="l"/>
            <a:pathLst>
              <a:path h="3884354" w="7768709">
                <a:moveTo>
                  <a:pt x="0" y="0"/>
                </a:moveTo>
                <a:lnTo>
                  <a:pt x="7768708" y="0"/>
                </a:lnTo>
                <a:lnTo>
                  <a:pt x="7768708" y="3884354"/>
                </a:lnTo>
                <a:lnTo>
                  <a:pt x="0" y="3884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96072" y="5374833"/>
            <a:ext cx="6295856" cy="1373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8"/>
              </a:lnSpc>
            </a:pPr>
            <a:r>
              <a:rPr lang="en-US" sz="425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INTRODUCTION TO 2D GAME DEVELOPMENT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630331" y="6209340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0" y="0"/>
                </a:moveTo>
                <a:lnTo>
                  <a:pt x="4919846" y="0"/>
                </a:lnTo>
                <a:lnTo>
                  <a:pt x="4919846" y="6441697"/>
                </a:lnTo>
                <a:lnTo>
                  <a:pt x="0" y="64416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96391" y="1960790"/>
            <a:ext cx="13367116" cy="7097203"/>
            <a:chOff x="0" y="0"/>
            <a:chExt cx="27452694" cy="1457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192323" y="0"/>
                  </a:moveTo>
                  <a:lnTo>
                    <a:pt x="27260370" y="0"/>
                  </a:lnTo>
                  <a:cubicBezTo>
                    <a:pt x="27366587" y="0"/>
                    <a:pt x="27452693" y="86106"/>
                    <a:pt x="27452693" y="192323"/>
                  </a:cubicBezTo>
                  <a:lnTo>
                    <a:pt x="27452693" y="14383547"/>
                  </a:lnTo>
                  <a:cubicBezTo>
                    <a:pt x="27452693" y="14434555"/>
                    <a:pt x="27432431" y="14483473"/>
                    <a:pt x="27396362" y="14519540"/>
                  </a:cubicBezTo>
                  <a:cubicBezTo>
                    <a:pt x="27360296" y="14555608"/>
                    <a:pt x="27311378" y="14575870"/>
                    <a:pt x="27260370" y="14575870"/>
                  </a:cubicBezTo>
                  <a:lnTo>
                    <a:pt x="192323" y="14575870"/>
                  </a:lnTo>
                  <a:cubicBezTo>
                    <a:pt x="86106" y="14575870"/>
                    <a:pt x="0" y="14489764"/>
                    <a:pt x="0" y="14383547"/>
                  </a:cubicBezTo>
                  <a:lnTo>
                    <a:pt x="0" y="192323"/>
                  </a:lnTo>
                  <a:cubicBezTo>
                    <a:pt x="0" y="86106"/>
                    <a:pt x="86106" y="0"/>
                    <a:pt x="1923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-843111" y="6037452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4919846" y="0"/>
                </a:moveTo>
                <a:lnTo>
                  <a:pt x="0" y="0"/>
                </a:lnTo>
                <a:lnTo>
                  <a:pt x="0" y="6441696"/>
                </a:lnTo>
                <a:lnTo>
                  <a:pt x="4919846" y="6441696"/>
                </a:lnTo>
                <a:lnTo>
                  <a:pt x="4919846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65945" y="2273865"/>
            <a:ext cx="5227178" cy="71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46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WHAT IS 2D GAME?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9874" y="3189890"/>
            <a:ext cx="12715093" cy="293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a game that uses a two-dimensional coordinate system to represent gameplay and visuals. It typically involves sprites, which are two-dimensional images that can be moved and animated on a flat plane. Some examples of 2D games include platformers, side-scrolling shooters, and puzzle games.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52917" y="6337083"/>
            <a:ext cx="3257701" cy="71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46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9899" y="7084296"/>
            <a:ext cx="12715093" cy="149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Super Mario Bros</a:t>
            </a:r>
          </a:p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Tetris </a:t>
            </a:r>
          </a:p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Plants vs. Zombies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0053" y="1996385"/>
            <a:ext cx="12928104" cy="43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90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KEY COMPONENTS: 2D GAME DEVELOPMENT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0053" y="2911196"/>
            <a:ext cx="4204398" cy="2232304"/>
            <a:chOff x="0" y="0"/>
            <a:chExt cx="27452694" cy="1457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611455" y="0"/>
                  </a:moveTo>
                  <a:lnTo>
                    <a:pt x="26841239" y="0"/>
                  </a:lnTo>
                  <a:cubicBezTo>
                    <a:pt x="27178936" y="0"/>
                    <a:pt x="27452693" y="273758"/>
                    <a:pt x="27452693" y="611455"/>
                  </a:cubicBezTo>
                  <a:lnTo>
                    <a:pt x="27452693" y="13964414"/>
                  </a:lnTo>
                  <a:cubicBezTo>
                    <a:pt x="27452693" y="14302112"/>
                    <a:pt x="27178936" y="14575870"/>
                    <a:pt x="26841239" y="14575870"/>
                  </a:cubicBezTo>
                  <a:lnTo>
                    <a:pt x="611455" y="14575870"/>
                  </a:lnTo>
                  <a:cubicBezTo>
                    <a:pt x="273758" y="14575870"/>
                    <a:pt x="0" y="14302112"/>
                    <a:pt x="0" y="13964414"/>
                  </a:cubicBezTo>
                  <a:lnTo>
                    <a:pt x="0" y="611455"/>
                  </a:lnTo>
                  <a:cubicBezTo>
                    <a:pt x="0" y="273758"/>
                    <a:pt x="273758" y="0"/>
                    <a:pt x="61145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42077" y="3489553"/>
            <a:ext cx="2880350" cy="11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GRAPHICS AND ART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41906" y="2911196"/>
            <a:ext cx="12729419" cy="2232304"/>
            <a:chOff x="0" y="0"/>
            <a:chExt cx="83116982" cy="14575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116979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83116979">
                  <a:moveTo>
                    <a:pt x="201957" y="0"/>
                  </a:moveTo>
                  <a:lnTo>
                    <a:pt x="82915020" y="0"/>
                  </a:lnTo>
                  <a:cubicBezTo>
                    <a:pt x="83026560" y="0"/>
                    <a:pt x="83116979" y="90419"/>
                    <a:pt x="83116979" y="201957"/>
                  </a:cubicBezTo>
                  <a:lnTo>
                    <a:pt x="83116979" y="14373913"/>
                  </a:lnTo>
                  <a:cubicBezTo>
                    <a:pt x="83116979" y="14485451"/>
                    <a:pt x="83026560" y="14575870"/>
                    <a:pt x="82915020" y="14575870"/>
                  </a:cubicBezTo>
                  <a:lnTo>
                    <a:pt x="201957" y="14575870"/>
                  </a:lnTo>
                  <a:cubicBezTo>
                    <a:pt x="90419" y="14575870"/>
                    <a:pt x="0" y="14485451"/>
                    <a:pt x="0" y="14373913"/>
                  </a:cubicBezTo>
                  <a:lnTo>
                    <a:pt x="0" y="201957"/>
                  </a:lnTo>
                  <a:cubicBezTo>
                    <a:pt x="0" y="90419"/>
                    <a:pt x="90419" y="0"/>
                    <a:pt x="20195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3116982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274412" y="3212478"/>
            <a:ext cx="11883673" cy="17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DESIGN OF SPRITES, BACKGROUNDS, AND ANIMATIONS. THIS COMPRISES SPRITE SHEETS, VECTOR ART, AND PIXEL ART.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8364" y="5232505"/>
            <a:ext cx="4204398" cy="2232304"/>
            <a:chOff x="0" y="0"/>
            <a:chExt cx="27452694" cy="145758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611455" y="0"/>
                  </a:moveTo>
                  <a:lnTo>
                    <a:pt x="26841239" y="0"/>
                  </a:lnTo>
                  <a:cubicBezTo>
                    <a:pt x="27178936" y="0"/>
                    <a:pt x="27452693" y="273758"/>
                    <a:pt x="27452693" y="611455"/>
                  </a:cubicBezTo>
                  <a:lnTo>
                    <a:pt x="27452693" y="13964414"/>
                  </a:lnTo>
                  <a:cubicBezTo>
                    <a:pt x="27452693" y="14302112"/>
                    <a:pt x="27178936" y="14575870"/>
                    <a:pt x="26841239" y="14575870"/>
                  </a:cubicBezTo>
                  <a:lnTo>
                    <a:pt x="611455" y="14575870"/>
                  </a:lnTo>
                  <a:cubicBezTo>
                    <a:pt x="273758" y="14575870"/>
                    <a:pt x="0" y="14302112"/>
                    <a:pt x="0" y="13964414"/>
                  </a:cubicBezTo>
                  <a:lnTo>
                    <a:pt x="0" y="611455"/>
                  </a:lnTo>
                  <a:cubicBezTo>
                    <a:pt x="0" y="273758"/>
                    <a:pt x="273758" y="0"/>
                    <a:pt x="61145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60388" y="5810863"/>
            <a:ext cx="2880350" cy="11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 ENGINES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960217" y="5232505"/>
            <a:ext cx="12729419" cy="2232304"/>
            <a:chOff x="0" y="0"/>
            <a:chExt cx="83116982" cy="145758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16979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83116979">
                  <a:moveTo>
                    <a:pt x="201957" y="0"/>
                  </a:moveTo>
                  <a:lnTo>
                    <a:pt x="82915020" y="0"/>
                  </a:lnTo>
                  <a:cubicBezTo>
                    <a:pt x="83026560" y="0"/>
                    <a:pt x="83116979" y="90419"/>
                    <a:pt x="83116979" y="201957"/>
                  </a:cubicBezTo>
                  <a:lnTo>
                    <a:pt x="83116979" y="14373913"/>
                  </a:lnTo>
                  <a:cubicBezTo>
                    <a:pt x="83116979" y="14485451"/>
                    <a:pt x="83026560" y="14575870"/>
                    <a:pt x="82915020" y="14575870"/>
                  </a:cubicBezTo>
                  <a:lnTo>
                    <a:pt x="201957" y="14575870"/>
                  </a:lnTo>
                  <a:cubicBezTo>
                    <a:pt x="90419" y="14575870"/>
                    <a:pt x="0" y="14485451"/>
                    <a:pt x="0" y="14373913"/>
                  </a:cubicBezTo>
                  <a:lnTo>
                    <a:pt x="0" y="201957"/>
                  </a:lnTo>
                  <a:cubicBezTo>
                    <a:pt x="0" y="90419"/>
                    <a:pt x="90419" y="0"/>
                    <a:pt x="20195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3116982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292723" y="5533787"/>
            <a:ext cx="11883673" cy="17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SOFTWARE TOOLS THAT OFFER THE FRAMEWORK FOR GAME DEVELOPMENT, SUCH AS UNITY, UNREAL ENGINE, AND GAMEMAKER.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98364" y="7760084"/>
            <a:ext cx="4204398" cy="2232304"/>
            <a:chOff x="0" y="0"/>
            <a:chExt cx="27452694" cy="145758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611455" y="0"/>
                  </a:moveTo>
                  <a:lnTo>
                    <a:pt x="26841239" y="0"/>
                  </a:lnTo>
                  <a:cubicBezTo>
                    <a:pt x="27178936" y="0"/>
                    <a:pt x="27452693" y="273758"/>
                    <a:pt x="27452693" y="611455"/>
                  </a:cubicBezTo>
                  <a:lnTo>
                    <a:pt x="27452693" y="13964414"/>
                  </a:lnTo>
                  <a:cubicBezTo>
                    <a:pt x="27452693" y="14302112"/>
                    <a:pt x="27178936" y="14575870"/>
                    <a:pt x="26841239" y="14575870"/>
                  </a:cubicBezTo>
                  <a:lnTo>
                    <a:pt x="611455" y="14575870"/>
                  </a:lnTo>
                  <a:cubicBezTo>
                    <a:pt x="273758" y="14575870"/>
                    <a:pt x="0" y="14302112"/>
                    <a:pt x="0" y="13964414"/>
                  </a:cubicBezTo>
                  <a:lnTo>
                    <a:pt x="0" y="611455"/>
                  </a:lnTo>
                  <a:cubicBezTo>
                    <a:pt x="0" y="273758"/>
                    <a:pt x="273758" y="0"/>
                    <a:pt x="61145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60388" y="8338442"/>
            <a:ext cx="2880350" cy="11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LEVEL DESIGN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960217" y="7760084"/>
            <a:ext cx="12729419" cy="2232304"/>
            <a:chOff x="0" y="0"/>
            <a:chExt cx="83116982" cy="145758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116979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83116979">
                  <a:moveTo>
                    <a:pt x="201957" y="0"/>
                  </a:moveTo>
                  <a:lnTo>
                    <a:pt x="82915020" y="0"/>
                  </a:lnTo>
                  <a:cubicBezTo>
                    <a:pt x="83026560" y="0"/>
                    <a:pt x="83116979" y="90419"/>
                    <a:pt x="83116979" y="201957"/>
                  </a:cubicBezTo>
                  <a:lnTo>
                    <a:pt x="83116979" y="14373913"/>
                  </a:lnTo>
                  <a:cubicBezTo>
                    <a:pt x="83116979" y="14485451"/>
                    <a:pt x="83026560" y="14575870"/>
                    <a:pt x="82915020" y="14575870"/>
                  </a:cubicBezTo>
                  <a:lnTo>
                    <a:pt x="201957" y="14575870"/>
                  </a:lnTo>
                  <a:cubicBezTo>
                    <a:pt x="90419" y="14575870"/>
                    <a:pt x="0" y="14485451"/>
                    <a:pt x="0" y="14373913"/>
                  </a:cubicBezTo>
                  <a:lnTo>
                    <a:pt x="0" y="201957"/>
                  </a:lnTo>
                  <a:cubicBezTo>
                    <a:pt x="0" y="90419"/>
                    <a:pt x="90419" y="0"/>
                    <a:pt x="20195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3116982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292723" y="8061366"/>
            <a:ext cx="11883673" cy="228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CREATING STAGES OR LEVELS THAT CHALLENGE THE PLAYER BY INCLUDING OBSTACLES, OPPONENTS, COLLECTIBLES, AND PUZZLES.</a:t>
            </a:r>
          </a:p>
          <a:p>
            <a:pPr algn="ctr">
              <a:lnSpc>
                <a:spcPts val="4427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0053" y="1996385"/>
            <a:ext cx="12928104" cy="43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901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KEY COMPONENTS: 2D GAME DEVELOPMENT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0053" y="2911196"/>
            <a:ext cx="4204398" cy="2232304"/>
            <a:chOff x="0" y="0"/>
            <a:chExt cx="27452694" cy="1457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611455" y="0"/>
                  </a:moveTo>
                  <a:lnTo>
                    <a:pt x="26841239" y="0"/>
                  </a:lnTo>
                  <a:cubicBezTo>
                    <a:pt x="27178936" y="0"/>
                    <a:pt x="27452693" y="273758"/>
                    <a:pt x="27452693" y="611455"/>
                  </a:cubicBezTo>
                  <a:lnTo>
                    <a:pt x="27452693" y="13964414"/>
                  </a:lnTo>
                  <a:cubicBezTo>
                    <a:pt x="27452693" y="14302112"/>
                    <a:pt x="27178936" y="14575870"/>
                    <a:pt x="26841239" y="14575870"/>
                  </a:cubicBezTo>
                  <a:lnTo>
                    <a:pt x="611455" y="14575870"/>
                  </a:lnTo>
                  <a:cubicBezTo>
                    <a:pt x="273758" y="14575870"/>
                    <a:pt x="0" y="14302112"/>
                    <a:pt x="0" y="13964414"/>
                  </a:cubicBezTo>
                  <a:lnTo>
                    <a:pt x="0" y="611455"/>
                  </a:lnTo>
                  <a:cubicBezTo>
                    <a:pt x="0" y="273758"/>
                    <a:pt x="273758" y="0"/>
                    <a:pt x="61145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42077" y="3489553"/>
            <a:ext cx="2880350" cy="11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SOUND DESIGN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41906" y="2911196"/>
            <a:ext cx="12729419" cy="2232304"/>
            <a:chOff x="0" y="0"/>
            <a:chExt cx="83116982" cy="14575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116979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83116979">
                  <a:moveTo>
                    <a:pt x="201957" y="0"/>
                  </a:moveTo>
                  <a:lnTo>
                    <a:pt x="82915020" y="0"/>
                  </a:lnTo>
                  <a:cubicBezTo>
                    <a:pt x="83026560" y="0"/>
                    <a:pt x="83116979" y="90419"/>
                    <a:pt x="83116979" y="201957"/>
                  </a:cubicBezTo>
                  <a:lnTo>
                    <a:pt x="83116979" y="14373913"/>
                  </a:lnTo>
                  <a:cubicBezTo>
                    <a:pt x="83116979" y="14485451"/>
                    <a:pt x="83026560" y="14575870"/>
                    <a:pt x="82915020" y="14575870"/>
                  </a:cubicBezTo>
                  <a:lnTo>
                    <a:pt x="201957" y="14575870"/>
                  </a:lnTo>
                  <a:cubicBezTo>
                    <a:pt x="90419" y="14575870"/>
                    <a:pt x="0" y="14485451"/>
                    <a:pt x="0" y="14373913"/>
                  </a:cubicBezTo>
                  <a:lnTo>
                    <a:pt x="0" y="201957"/>
                  </a:lnTo>
                  <a:cubicBezTo>
                    <a:pt x="0" y="90419"/>
                    <a:pt x="90419" y="0"/>
                    <a:pt x="20195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3116982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274412" y="3212478"/>
            <a:ext cx="11883673" cy="17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CREATING AUDIO FEATURES SUCH AS BACKGROUND MUSIC, SOUND EFFECTS, AND VOICE ACTING TO IMPROVE THE PLAYER EXPERIENCE.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8364" y="5232505"/>
            <a:ext cx="4204398" cy="2232304"/>
            <a:chOff x="0" y="0"/>
            <a:chExt cx="27452694" cy="145758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611455" y="0"/>
                  </a:moveTo>
                  <a:lnTo>
                    <a:pt x="26841239" y="0"/>
                  </a:lnTo>
                  <a:cubicBezTo>
                    <a:pt x="27178936" y="0"/>
                    <a:pt x="27452693" y="273758"/>
                    <a:pt x="27452693" y="611455"/>
                  </a:cubicBezTo>
                  <a:lnTo>
                    <a:pt x="27452693" y="13964414"/>
                  </a:lnTo>
                  <a:cubicBezTo>
                    <a:pt x="27452693" y="14302112"/>
                    <a:pt x="27178936" y="14575870"/>
                    <a:pt x="26841239" y="14575870"/>
                  </a:cubicBezTo>
                  <a:lnTo>
                    <a:pt x="611455" y="14575870"/>
                  </a:lnTo>
                  <a:cubicBezTo>
                    <a:pt x="273758" y="14575870"/>
                    <a:pt x="0" y="14302112"/>
                    <a:pt x="0" y="13964414"/>
                  </a:cubicBezTo>
                  <a:lnTo>
                    <a:pt x="0" y="611455"/>
                  </a:lnTo>
                  <a:cubicBezTo>
                    <a:pt x="0" y="273758"/>
                    <a:pt x="273758" y="0"/>
                    <a:pt x="61145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60388" y="5810863"/>
            <a:ext cx="2880350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SCRIPTING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960217" y="5232505"/>
            <a:ext cx="12729419" cy="2232304"/>
            <a:chOff x="0" y="0"/>
            <a:chExt cx="83116982" cy="145758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16979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83116979">
                  <a:moveTo>
                    <a:pt x="201957" y="0"/>
                  </a:moveTo>
                  <a:lnTo>
                    <a:pt x="82915020" y="0"/>
                  </a:lnTo>
                  <a:cubicBezTo>
                    <a:pt x="83026560" y="0"/>
                    <a:pt x="83116979" y="90419"/>
                    <a:pt x="83116979" y="201957"/>
                  </a:cubicBezTo>
                  <a:lnTo>
                    <a:pt x="83116979" y="14373913"/>
                  </a:lnTo>
                  <a:cubicBezTo>
                    <a:pt x="83116979" y="14485451"/>
                    <a:pt x="83026560" y="14575870"/>
                    <a:pt x="82915020" y="14575870"/>
                  </a:cubicBezTo>
                  <a:lnTo>
                    <a:pt x="201957" y="14575870"/>
                  </a:lnTo>
                  <a:cubicBezTo>
                    <a:pt x="90419" y="14575870"/>
                    <a:pt x="0" y="14485451"/>
                    <a:pt x="0" y="14373913"/>
                  </a:cubicBezTo>
                  <a:lnTo>
                    <a:pt x="0" y="201957"/>
                  </a:lnTo>
                  <a:cubicBezTo>
                    <a:pt x="0" y="90419"/>
                    <a:pt x="90419" y="0"/>
                    <a:pt x="20195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3116982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292723" y="5533787"/>
            <a:ext cx="11883673" cy="17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SCRIPTING IS THE PROCESS OF WRITING CODE THAT REGULATES GAME LOGIC, SUCH AS CHARACTER BEHAVIOR, ENEMY AL, SCORING, AND USER INTERFACE ELEMENTS.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0790" y="3028300"/>
            <a:ext cx="2932185" cy="1466093"/>
          </a:xfrm>
          <a:custGeom>
            <a:avLst/>
            <a:gdLst/>
            <a:ahLst/>
            <a:cxnLst/>
            <a:rect r="r" b="b" t="t" l="l"/>
            <a:pathLst>
              <a:path h="1466093" w="2932185">
                <a:moveTo>
                  <a:pt x="0" y="0"/>
                </a:moveTo>
                <a:lnTo>
                  <a:pt x="2932185" y="0"/>
                </a:lnTo>
                <a:lnTo>
                  <a:pt x="2932185" y="1466093"/>
                </a:lnTo>
                <a:lnTo>
                  <a:pt x="0" y="1466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3092" y="1929146"/>
            <a:ext cx="14006808" cy="46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97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PROS AND CONS OF 2D GAME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6909" y="3412680"/>
            <a:ext cx="2880350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0586" y="5007422"/>
            <a:ext cx="7302488" cy="4848895"/>
            <a:chOff x="0" y="0"/>
            <a:chExt cx="47681729" cy="31660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681728" cy="31660948"/>
            </a:xfrm>
            <a:custGeom>
              <a:avLst/>
              <a:gdLst/>
              <a:ahLst/>
              <a:cxnLst/>
              <a:rect r="r" b="b" t="t" l="l"/>
              <a:pathLst>
                <a:path h="31660948" w="47681728">
                  <a:moveTo>
                    <a:pt x="352045" y="0"/>
                  </a:moveTo>
                  <a:lnTo>
                    <a:pt x="47329685" y="0"/>
                  </a:lnTo>
                  <a:cubicBezTo>
                    <a:pt x="47423053" y="0"/>
                    <a:pt x="47512594" y="37090"/>
                    <a:pt x="47578618" y="103111"/>
                  </a:cubicBezTo>
                  <a:cubicBezTo>
                    <a:pt x="47644639" y="169133"/>
                    <a:pt x="47681728" y="258677"/>
                    <a:pt x="47681728" y="352045"/>
                  </a:cubicBezTo>
                  <a:lnTo>
                    <a:pt x="47681728" y="31308904"/>
                  </a:lnTo>
                  <a:cubicBezTo>
                    <a:pt x="47681728" y="31503333"/>
                    <a:pt x="47524113" y="31660948"/>
                    <a:pt x="47329685" y="31660948"/>
                  </a:cubicBezTo>
                  <a:lnTo>
                    <a:pt x="352045" y="31660948"/>
                  </a:lnTo>
                  <a:cubicBezTo>
                    <a:pt x="157616" y="31660948"/>
                    <a:pt x="0" y="31503333"/>
                    <a:pt x="0" y="31308904"/>
                  </a:cubicBezTo>
                  <a:lnTo>
                    <a:pt x="0" y="352045"/>
                  </a:lnTo>
                  <a:cubicBezTo>
                    <a:pt x="0" y="157616"/>
                    <a:pt x="157616" y="0"/>
                    <a:pt x="35204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681729" cy="3169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5285303"/>
            <a:ext cx="6953306" cy="42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619" indent="-321309" lvl="1">
              <a:lnSpc>
                <a:spcPts val="3631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Accessibility: Simpler controls make 2D games more approachable for casual gamers.</a:t>
            </a:r>
          </a:p>
          <a:p>
            <a:pPr algn="l" marL="642619" indent="-321309" lvl="1">
              <a:lnSpc>
                <a:spcPts val="3631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Cost-effective: Development is typically faster and less expensive.</a:t>
            </a:r>
          </a:p>
          <a:p>
            <a:pPr algn="l" marL="642619" indent="-321309" lvl="1">
              <a:lnSpc>
                <a:spcPts val="3631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Simplicity: Quick, engaging gameplay experiences like hyper-casual mobile games are ideal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71223" y="3028300"/>
            <a:ext cx="2932185" cy="1466093"/>
          </a:xfrm>
          <a:custGeom>
            <a:avLst/>
            <a:gdLst/>
            <a:ahLst/>
            <a:cxnLst/>
            <a:rect r="r" b="b" t="t" l="l"/>
            <a:pathLst>
              <a:path h="1466093" w="2932185">
                <a:moveTo>
                  <a:pt x="0" y="0"/>
                </a:moveTo>
                <a:lnTo>
                  <a:pt x="2932185" y="0"/>
                </a:lnTo>
                <a:lnTo>
                  <a:pt x="2932185" y="1466093"/>
                </a:lnTo>
                <a:lnTo>
                  <a:pt x="0" y="1466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077342" y="3412680"/>
            <a:ext cx="2880350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61019" y="5007422"/>
            <a:ext cx="8681121" cy="4848895"/>
            <a:chOff x="0" y="0"/>
            <a:chExt cx="56683545" cy="316609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83548" cy="31660948"/>
            </a:xfrm>
            <a:custGeom>
              <a:avLst/>
              <a:gdLst/>
              <a:ahLst/>
              <a:cxnLst/>
              <a:rect r="r" b="b" t="t" l="l"/>
              <a:pathLst>
                <a:path h="31660948" w="56683548">
                  <a:moveTo>
                    <a:pt x="296137" y="0"/>
                  </a:moveTo>
                  <a:lnTo>
                    <a:pt x="56387411" y="0"/>
                  </a:lnTo>
                  <a:cubicBezTo>
                    <a:pt x="56465949" y="0"/>
                    <a:pt x="56541274" y="31200"/>
                    <a:pt x="56596812" y="86737"/>
                  </a:cubicBezTo>
                  <a:cubicBezTo>
                    <a:pt x="56652350" y="142273"/>
                    <a:pt x="56683548" y="217597"/>
                    <a:pt x="56683548" y="296137"/>
                  </a:cubicBezTo>
                  <a:lnTo>
                    <a:pt x="56683548" y="31364811"/>
                  </a:lnTo>
                  <a:cubicBezTo>
                    <a:pt x="56683548" y="31443352"/>
                    <a:pt x="56652350" y="31518675"/>
                    <a:pt x="56596812" y="31574212"/>
                  </a:cubicBezTo>
                  <a:cubicBezTo>
                    <a:pt x="56541274" y="31629747"/>
                    <a:pt x="56465949" y="31660948"/>
                    <a:pt x="56387411" y="31660948"/>
                  </a:cubicBezTo>
                  <a:lnTo>
                    <a:pt x="296137" y="31660948"/>
                  </a:lnTo>
                  <a:cubicBezTo>
                    <a:pt x="217597" y="31660948"/>
                    <a:pt x="142273" y="31629747"/>
                    <a:pt x="86737" y="31574212"/>
                  </a:cubicBezTo>
                  <a:cubicBezTo>
                    <a:pt x="31200" y="31518675"/>
                    <a:pt x="0" y="31443352"/>
                    <a:pt x="0" y="31364811"/>
                  </a:cubicBezTo>
                  <a:lnTo>
                    <a:pt x="0" y="296137"/>
                  </a:lnTo>
                  <a:cubicBezTo>
                    <a:pt x="0" y="217597"/>
                    <a:pt x="31200" y="142273"/>
                    <a:pt x="86737" y="86737"/>
                  </a:cubicBezTo>
                  <a:cubicBezTo>
                    <a:pt x="142273" y="31200"/>
                    <a:pt x="217597" y="0"/>
                    <a:pt x="29613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683545" cy="3169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76496" y="5054842"/>
            <a:ext cx="8050167" cy="467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619" indent="-321309" lvl="1">
              <a:lnSpc>
                <a:spcPts val="3631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Limited Depth and Realism: While some 2D games have stunning art </a:t>
            </a: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styles, they inherently lack the depth and perceived realism of 3D graphics.</a:t>
            </a:r>
          </a:p>
          <a:p>
            <a:pPr algn="l" marL="642619" indent="-321309" lvl="1">
              <a:lnSpc>
                <a:spcPts val="3631"/>
              </a:lnSpc>
              <a:buFont typeface="Arial"/>
              <a:buChar char="•"/>
            </a:pPr>
            <a:r>
              <a:rPr lang="en-US" sz="297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Complexity in Animation: Smooth animation in 2D often requires a lot of artwork. Each animation frame might need hand-drawn, especially for complex movements or multi-directional characters.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59646" y="4162388"/>
            <a:ext cx="7768709" cy="3884354"/>
          </a:xfrm>
          <a:custGeom>
            <a:avLst/>
            <a:gdLst/>
            <a:ahLst/>
            <a:cxnLst/>
            <a:rect r="r" b="b" t="t" l="l"/>
            <a:pathLst>
              <a:path h="3884354" w="7768709">
                <a:moveTo>
                  <a:pt x="0" y="0"/>
                </a:moveTo>
                <a:lnTo>
                  <a:pt x="7768708" y="0"/>
                </a:lnTo>
                <a:lnTo>
                  <a:pt x="7768708" y="3884354"/>
                </a:lnTo>
                <a:lnTo>
                  <a:pt x="0" y="3884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96072" y="5374833"/>
            <a:ext cx="6295856" cy="1373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8"/>
              </a:lnSpc>
            </a:pPr>
            <a:r>
              <a:rPr lang="en-US" sz="425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INTRODUCTION TO 3D GAME DEVELOPMENT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630331" y="6209340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0" y="0"/>
                </a:moveTo>
                <a:lnTo>
                  <a:pt x="4919846" y="0"/>
                </a:lnTo>
                <a:lnTo>
                  <a:pt x="4919846" y="6441697"/>
                </a:lnTo>
                <a:lnTo>
                  <a:pt x="0" y="64416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96391" y="1960790"/>
            <a:ext cx="13367116" cy="7097203"/>
            <a:chOff x="0" y="0"/>
            <a:chExt cx="27452694" cy="1457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192323" y="0"/>
                  </a:moveTo>
                  <a:lnTo>
                    <a:pt x="27260370" y="0"/>
                  </a:lnTo>
                  <a:cubicBezTo>
                    <a:pt x="27366587" y="0"/>
                    <a:pt x="27452693" y="86106"/>
                    <a:pt x="27452693" y="192323"/>
                  </a:cubicBezTo>
                  <a:lnTo>
                    <a:pt x="27452693" y="14383547"/>
                  </a:lnTo>
                  <a:cubicBezTo>
                    <a:pt x="27452693" y="14434555"/>
                    <a:pt x="27432431" y="14483473"/>
                    <a:pt x="27396362" y="14519540"/>
                  </a:cubicBezTo>
                  <a:cubicBezTo>
                    <a:pt x="27360296" y="14555608"/>
                    <a:pt x="27311378" y="14575870"/>
                    <a:pt x="27260370" y="14575870"/>
                  </a:cubicBezTo>
                  <a:lnTo>
                    <a:pt x="192323" y="14575870"/>
                  </a:lnTo>
                  <a:cubicBezTo>
                    <a:pt x="86106" y="14575870"/>
                    <a:pt x="0" y="14489764"/>
                    <a:pt x="0" y="14383547"/>
                  </a:cubicBezTo>
                  <a:lnTo>
                    <a:pt x="0" y="192323"/>
                  </a:lnTo>
                  <a:cubicBezTo>
                    <a:pt x="0" y="86106"/>
                    <a:pt x="86106" y="0"/>
                    <a:pt x="1923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-843111" y="6037452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4919846" y="0"/>
                </a:moveTo>
                <a:lnTo>
                  <a:pt x="0" y="0"/>
                </a:lnTo>
                <a:lnTo>
                  <a:pt x="0" y="6441696"/>
                </a:lnTo>
                <a:lnTo>
                  <a:pt x="4919846" y="6441696"/>
                </a:lnTo>
                <a:lnTo>
                  <a:pt x="4919846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65945" y="2273865"/>
            <a:ext cx="5227178" cy="71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46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WHAT IS 3D GAME?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9874" y="3189890"/>
            <a:ext cx="12715093" cy="245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3D gaming refers to interactive computer entertainment games with characteristics of three-dimensional graphics: height, width, and depth. 3D gaming is believed to create immersive experience in a virtual worlds with realistic representations.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52917" y="6337083"/>
            <a:ext cx="3257701" cy="71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46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EXAMPLES: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9899" y="7084296"/>
            <a:ext cx="12715093" cy="196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Minecraft</a:t>
            </a:r>
          </a:p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Grand Theft Auto V</a:t>
            </a:r>
          </a:p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Cyberpunk 2077</a:t>
            </a:r>
          </a:p>
          <a:p>
            <a:pPr algn="l" marL="781986" indent="-390993" lvl="1">
              <a:lnSpc>
                <a:spcPts val="3730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Witcher 3: Wild Hunt.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96391" y="1960790"/>
            <a:ext cx="13367116" cy="7097203"/>
            <a:chOff x="0" y="0"/>
            <a:chExt cx="27452694" cy="14575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52693" cy="14575870"/>
            </a:xfrm>
            <a:custGeom>
              <a:avLst/>
              <a:gdLst/>
              <a:ahLst/>
              <a:cxnLst/>
              <a:rect r="r" b="b" t="t" l="l"/>
              <a:pathLst>
                <a:path h="14575870" w="27452693">
                  <a:moveTo>
                    <a:pt x="192323" y="0"/>
                  </a:moveTo>
                  <a:lnTo>
                    <a:pt x="27260370" y="0"/>
                  </a:lnTo>
                  <a:cubicBezTo>
                    <a:pt x="27366587" y="0"/>
                    <a:pt x="27452693" y="86106"/>
                    <a:pt x="27452693" y="192323"/>
                  </a:cubicBezTo>
                  <a:lnTo>
                    <a:pt x="27452693" y="14383547"/>
                  </a:lnTo>
                  <a:cubicBezTo>
                    <a:pt x="27452693" y="14434555"/>
                    <a:pt x="27432431" y="14483473"/>
                    <a:pt x="27396362" y="14519540"/>
                  </a:cubicBezTo>
                  <a:cubicBezTo>
                    <a:pt x="27360296" y="14555608"/>
                    <a:pt x="27311378" y="14575870"/>
                    <a:pt x="27260370" y="14575870"/>
                  </a:cubicBezTo>
                  <a:lnTo>
                    <a:pt x="192323" y="14575870"/>
                  </a:lnTo>
                  <a:cubicBezTo>
                    <a:pt x="86106" y="14575870"/>
                    <a:pt x="0" y="14489764"/>
                    <a:pt x="0" y="14383547"/>
                  </a:cubicBezTo>
                  <a:lnTo>
                    <a:pt x="0" y="192323"/>
                  </a:lnTo>
                  <a:cubicBezTo>
                    <a:pt x="0" y="86106"/>
                    <a:pt x="86106" y="0"/>
                    <a:pt x="192323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52694" cy="1461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-843111" y="6037452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4919846" y="0"/>
                </a:moveTo>
                <a:lnTo>
                  <a:pt x="0" y="0"/>
                </a:lnTo>
                <a:lnTo>
                  <a:pt x="0" y="6441696"/>
                </a:lnTo>
                <a:lnTo>
                  <a:pt x="4919846" y="6441696"/>
                </a:lnTo>
                <a:lnTo>
                  <a:pt x="4919846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65945" y="2273865"/>
            <a:ext cx="8884778" cy="71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2"/>
              </a:lnSpc>
              <a:spcBef>
                <a:spcPct val="0"/>
              </a:spcBef>
            </a:pPr>
            <a:r>
              <a:rPr lang="en-US" sz="4623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WHAT IS 3D GAME DEVELOPMENT?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9874" y="3189890"/>
            <a:ext cx="12715093" cy="293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is the process of creating video games where objects, characters, and environments exist in a three-dimensional space using length, width, and depth (the X, Y, and Z axes). It requires a blend of programming, 3D modeling, animation, and sound design to build immersive worlds.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69899" y="6296623"/>
            <a:ext cx="9965349" cy="61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  <a:spcBef>
                <a:spcPct val="0"/>
              </a:spcBef>
            </a:pPr>
            <a:r>
              <a:rPr lang="en-US" sz="391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COMPONENTS: 3D GAME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27143" y="7041617"/>
            <a:ext cx="5867522" cy="185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 Engine</a:t>
            </a:r>
          </a:p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3D Assets (meshes, rigs, textures)</a:t>
            </a:r>
          </a:p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Physics/Collisions</a:t>
            </a:r>
          </a:p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Gameplay Mechanics</a:t>
            </a:r>
          </a:p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Lighting &amp; Audio</a:t>
            </a:r>
          </a:p>
          <a:p>
            <a:pPr algn="l" marL="500588" indent="-250294" lvl="1">
              <a:lnSpc>
                <a:spcPts val="2388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User Interface (UI/UX)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0790" y="3028300"/>
            <a:ext cx="2932185" cy="1466093"/>
          </a:xfrm>
          <a:custGeom>
            <a:avLst/>
            <a:gdLst/>
            <a:ahLst/>
            <a:cxnLst/>
            <a:rect r="r" b="b" t="t" l="l"/>
            <a:pathLst>
              <a:path h="1466093" w="2932185">
                <a:moveTo>
                  <a:pt x="0" y="0"/>
                </a:moveTo>
                <a:lnTo>
                  <a:pt x="2932185" y="0"/>
                </a:lnTo>
                <a:lnTo>
                  <a:pt x="2932185" y="1466093"/>
                </a:lnTo>
                <a:lnTo>
                  <a:pt x="0" y="1466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3092" y="1929146"/>
            <a:ext cx="14006808" cy="46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97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PROS AND CONS OF 2D GAME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6909" y="3412680"/>
            <a:ext cx="2880350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0586" y="5007422"/>
            <a:ext cx="7302488" cy="4848895"/>
            <a:chOff x="0" y="0"/>
            <a:chExt cx="47681729" cy="31660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681728" cy="31660948"/>
            </a:xfrm>
            <a:custGeom>
              <a:avLst/>
              <a:gdLst/>
              <a:ahLst/>
              <a:cxnLst/>
              <a:rect r="r" b="b" t="t" l="l"/>
              <a:pathLst>
                <a:path h="31660948" w="47681728">
                  <a:moveTo>
                    <a:pt x="352045" y="0"/>
                  </a:moveTo>
                  <a:lnTo>
                    <a:pt x="47329685" y="0"/>
                  </a:lnTo>
                  <a:cubicBezTo>
                    <a:pt x="47423053" y="0"/>
                    <a:pt x="47512594" y="37090"/>
                    <a:pt x="47578618" y="103111"/>
                  </a:cubicBezTo>
                  <a:cubicBezTo>
                    <a:pt x="47644639" y="169133"/>
                    <a:pt x="47681728" y="258677"/>
                    <a:pt x="47681728" y="352045"/>
                  </a:cubicBezTo>
                  <a:lnTo>
                    <a:pt x="47681728" y="31308904"/>
                  </a:lnTo>
                  <a:cubicBezTo>
                    <a:pt x="47681728" y="31503333"/>
                    <a:pt x="47524113" y="31660948"/>
                    <a:pt x="47329685" y="31660948"/>
                  </a:cubicBezTo>
                  <a:lnTo>
                    <a:pt x="352045" y="31660948"/>
                  </a:lnTo>
                  <a:cubicBezTo>
                    <a:pt x="157616" y="31660948"/>
                    <a:pt x="0" y="31503333"/>
                    <a:pt x="0" y="31308904"/>
                  </a:cubicBezTo>
                  <a:lnTo>
                    <a:pt x="0" y="352045"/>
                  </a:lnTo>
                  <a:cubicBezTo>
                    <a:pt x="0" y="157616"/>
                    <a:pt x="157616" y="0"/>
                    <a:pt x="35204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681729" cy="3169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5285303"/>
            <a:ext cx="7154374" cy="416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652" indent="-356826" lvl="1">
              <a:lnSpc>
                <a:spcPts val="4032"/>
              </a:lnSpc>
              <a:buFont typeface="Arial"/>
              <a:buChar char="•"/>
            </a:pPr>
            <a:r>
              <a:rPr lang="en-US" sz="33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Immersion: Offers a more reali</a:t>
            </a:r>
            <a:r>
              <a:rPr lang="en-US" sz="33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stic and engaging player experience.</a:t>
            </a:r>
          </a:p>
          <a:p>
            <a:pPr algn="l" marL="713652" indent="-356826" lvl="1">
              <a:lnSpc>
                <a:spcPts val="4032"/>
              </a:lnSpc>
              <a:buFont typeface="Arial"/>
              <a:buChar char="•"/>
            </a:pPr>
            <a:r>
              <a:rPr lang="en-US" sz="33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Visual Quality: Can achieve stunning, high-definition graphics.</a:t>
            </a:r>
          </a:p>
          <a:p>
            <a:pPr algn="l" marL="713652" indent="-356826" lvl="1">
              <a:lnSpc>
                <a:spcPts val="4032"/>
              </a:lnSpc>
              <a:buFont typeface="Arial"/>
              <a:buChar char="•"/>
            </a:pPr>
            <a:r>
              <a:rPr lang="en-US" sz="33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Versatility: Suitable for various genres and gameplay styles.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71223" y="3028300"/>
            <a:ext cx="2932185" cy="1466093"/>
          </a:xfrm>
          <a:custGeom>
            <a:avLst/>
            <a:gdLst/>
            <a:ahLst/>
            <a:cxnLst/>
            <a:rect r="r" b="b" t="t" l="l"/>
            <a:pathLst>
              <a:path h="1466093" w="2932185">
                <a:moveTo>
                  <a:pt x="0" y="0"/>
                </a:moveTo>
                <a:lnTo>
                  <a:pt x="2932185" y="0"/>
                </a:lnTo>
                <a:lnTo>
                  <a:pt x="2932185" y="1466093"/>
                </a:lnTo>
                <a:lnTo>
                  <a:pt x="0" y="1466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077342" y="3412680"/>
            <a:ext cx="2880350" cy="62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6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61019" y="5007422"/>
            <a:ext cx="8681121" cy="4848895"/>
            <a:chOff x="0" y="0"/>
            <a:chExt cx="56683545" cy="316609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83548" cy="31660948"/>
            </a:xfrm>
            <a:custGeom>
              <a:avLst/>
              <a:gdLst/>
              <a:ahLst/>
              <a:cxnLst/>
              <a:rect r="r" b="b" t="t" l="l"/>
              <a:pathLst>
                <a:path h="31660948" w="56683548">
                  <a:moveTo>
                    <a:pt x="296137" y="0"/>
                  </a:moveTo>
                  <a:lnTo>
                    <a:pt x="56387411" y="0"/>
                  </a:lnTo>
                  <a:cubicBezTo>
                    <a:pt x="56465949" y="0"/>
                    <a:pt x="56541274" y="31200"/>
                    <a:pt x="56596812" y="86737"/>
                  </a:cubicBezTo>
                  <a:cubicBezTo>
                    <a:pt x="56652350" y="142273"/>
                    <a:pt x="56683548" y="217597"/>
                    <a:pt x="56683548" y="296137"/>
                  </a:cubicBezTo>
                  <a:lnTo>
                    <a:pt x="56683548" y="31364811"/>
                  </a:lnTo>
                  <a:cubicBezTo>
                    <a:pt x="56683548" y="31443352"/>
                    <a:pt x="56652350" y="31518675"/>
                    <a:pt x="56596812" y="31574212"/>
                  </a:cubicBezTo>
                  <a:cubicBezTo>
                    <a:pt x="56541274" y="31629747"/>
                    <a:pt x="56465949" y="31660948"/>
                    <a:pt x="56387411" y="31660948"/>
                  </a:cubicBezTo>
                  <a:lnTo>
                    <a:pt x="296137" y="31660948"/>
                  </a:lnTo>
                  <a:cubicBezTo>
                    <a:pt x="217597" y="31660948"/>
                    <a:pt x="142273" y="31629747"/>
                    <a:pt x="86737" y="31574212"/>
                  </a:cubicBezTo>
                  <a:cubicBezTo>
                    <a:pt x="31200" y="31518675"/>
                    <a:pt x="0" y="31443352"/>
                    <a:pt x="0" y="31364811"/>
                  </a:cubicBezTo>
                  <a:lnTo>
                    <a:pt x="0" y="296137"/>
                  </a:lnTo>
                  <a:cubicBezTo>
                    <a:pt x="0" y="217597"/>
                    <a:pt x="31200" y="142273"/>
                    <a:pt x="86737" y="86737"/>
                  </a:cubicBezTo>
                  <a:cubicBezTo>
                    <a:pt x="142273" y="31200"/>
                    <a:pt x="217597" y="0"/>
                    <a:pt x="29613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683545" cy="3169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65495" y="5232078"/>
            <a:ext cx="8272170" cy="4215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947" indent="-361473" lvl="1">
              <a:lnSpc>
                <a:spcPts val="4085"/>
              </a:lnSpc>
              <a:buFont typeface="Arial"/>
              <a:buChar char="•"/>
            </a:pPr>
            <a:r>
              <a:rPr lang="en-US" sz="334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Increased Development Time and Cost: 3D games require more comp</a:t>
            </a:r>
            <a:r>
              <a:rPr lang="en-US" sz="334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lex asset creation (modeling, texturing) and processing power. This trans</a:t>
            </a:r>
            <a:r>
              <a:rPr lang="en-US" sz="334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lates to longer development times and potentially higher costs, especially for smaller teams.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0788" y="1751040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8"/>
                </a:lnTo>
                <a:lnTo>
                  <a:pt x="0" y="178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42654" y="1996385"/>
            <a:ext cx="5356670" cy="2425111"/>
          </a:xfrm>
          <a:custGeom>
            <a:avLst/>
            <a:gdLst/>
            <a:ahLst/>
            <a:cxnLst/>
            <a:rect r="r" b="b" t="t" l="l"/>
            <a:pathLst>
              <a:path h="2425111" w="5356670">
                <a:moveTo>
                  <a:pt x="0" y="0"/>
                </a:moveTo>
                <a:lnTo>
                  <a:pt x="5356670" y="0"/>
                </a:lnTo>
                <a:lnTo>
                  <a:pt x="5356670" y="2425110"/>
                </a:lnTo>
                <a:lnTo>
                  <a:pt x="0" y="2425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58823" y="683256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08151" y="7464809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8" y="0"/>
                </a:lnTo>
                <a:lnTo>
                  <a:pt x="14170448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505171" y="7972492"/>
            <a:ext cx="14170448" cy="5473335"/>
          </a:xfrm>
          <a:custGeom>
            <a:avLst/>
            <a:gdLst/>
            <a:ahLst/>
            <a:cxnLst/>
            <a:rect r="r" b="b" t="t" l="l"/>
            <a:pathLst>
              <a:path h="5473335" w="14170448">
                <a:moveTo>
                  <a:pt x="0" y="0"/>
                </a:moveTo>
                <a:lnTo>
                  <a:pt x="14170447" y="0"/>
                </a:lnTo>
                <a:lnTo>
                  <a:pt x="14170447" y="5473336"/>
                </a:lnTo>
                <a:lnTo>
                  <a:pt x="0" y="547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9874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8" y="0"/>
                </a:lnTo>
                <a:lnTo>
                  <a:pt x="1894538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93375" y="890135"/>
            <a:ext cx="3201592" cy="632314"/>
          </a:xfrm>
          <a:custGeom>
            <a:avLst/>
            <a:gdLst/>
            <a:ahLst/>
            <a:cxnLst/>
            <a:rect r="r" b="b" t="t" l="l"/>
            <a:pathLst>
              <a:path h="632314" w="3201592">
                <a:moveTo>
                  <a:pt x="0" y="0"/>
                </a:moveTo>
                <a:lnTo>
                  <a:pt x="3201592" y="0"/>
                </a:lnTo>
                <a:lnTo>
                  <a:pt x="3201592" y="632314"/>
                </a:lnTo>
                <a:lnTo>
                  <a:pt x="0" y="632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815" y="936263"/>
            <a:ext cx="1894537" cy="461793"/>
          </a:xfrm>
          <a:custGeom>
            <a:avLst/>
            <a:gdLst/>
            <a:ahLst/>
            <a:cxnLst/>
            <a:rect r="r" b="b" t="t" l="l"/>
            <a:pathLst>
              <a:path h="461793" w="1894537">
                <a:moveTo>
                  <a:pt x="0" y="0"/>
                </a:moveTo>
                <a:lnTo>
                  <a:pt x="1894537" y="0"/>
                </a:lnTo>
                <a:lnTo>
                  <a:pt x="1894537" y="461793"/>
                </a:lnTo>
                <a:lnTo>
                  <a:pt x="0" y="4617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89574" y="718296"/>
            <a:ext cx="873933" cy="842253"/>
          </a:xfrm>
          <a:custGeom>
            <a:avLst/>
            <a:gdLst/>
            <a:ahLst/>
            <a:cxnLst/>
            <a:rect r="r" b="b" t="t" l="l"/>
            <a:pathLst>
              <a:path h="842253" w="873933">
                <a:moveTo>
                  <a:pt x="0" y="0"/>
                </a:moveTo>
                <a:lnTo>
                  <a:pt x="873933" y="0"/>
                </a:lnTo>
                <a:lnTo>
                  <a:pt x="873933" y="842253"/>
                </a:lnTo>
                <a:lnTo>
                  <a:pt x="0" y="842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3208940"/>
            <a:ext cx="13829897" cy="4255869"/>
            <a:chOff x="0" y="0"/>
            <a:chExt cx="90302570" cy="277887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302569" cy="27788778"/>
            </a:xfrm>
            <a:custGeom>
              <a:avLst/>
              <a:gdLst/>
              <a:ahLst/>
              <a:cxnLst/>
              <a:rect r="r" b="b" t="t" l="l"/>
              <a:pathLst>
                <a:path h="27788778" w="90302569">
                  <a:moveTo>
                    <a:pt x="185887" y="0"/>
                  </a:moveTo>
                  <a:lnTo>
                    <a:pt x="90116682" y="0"/>
                  </a:lnTo>
                  <a:cubicBezTo>
                    <a:pt x="90165982" y="0"/>
                    <a:pt x="90213266" y="19584"/>
                    <a:pt x="90248122" y="54445"/>
                  </a:cubicBezTo>
                  <a:cubicBezTo>
                    <a:pt x="90282985" y="89306"/>
                    <a:pt x="90302569" y="136587"/>
                    <a:pt x="90302569" y="185887"/>
                  </a:cubicBezTo>
                  <a:lnTo>
                    <a:pt x="90302569" y="27602892"/>
                  </a:lnTo>
                  <a:cubicBezTo>
                    <a:pt x="90302569" y="27652191"/>
                    <a:pt x="90282985" y="27699472"/>
                    <a:pt x="90248122" y="27734332"/>
                  </a:cubicBezTo>
                  <a:cubicBezTo>
                    <a:pt x="90213266" y="27769195"/>
                    <a:pt x="90165982" y="27788778"/>
                    <a:pt x="90116682" y="27788778"/>
                  </a:cubicBezTo>
                  <a:lnTo>
                    <a:pt x="185887" y="27788778"/>
                  </a:lnTo>
                  <a:cubicBezTo>
                    <a:pt x="136587" y="27788778"/>
                    <a:pt x="89306" y="27769195"/>
                    <a:pt x="54445" y="27734332"/>
                  </a:cubicBezTo>
                  <a:cubicBezTo>
                    <a:pt x="19584" y="27699472"/>
                    <a:pt x="0" y="27652191"/>
                    <a:pt x="0" y="27602892"/>
                  </a:cubicBezTo>
                  <a:lnTo>
                    <a:pt x="0" y="185887"/>
                  </a:lnTo>
                  <a:cubicBezTo>
                    <a:pt x="0" y="136587"/>
                    <a:pt x="19584" y="89306"/>
                    <a:pt x="54445" y="54445"/>
                  </a:cubicBezTo>
                  <a:cubicBezTo>
                    <a:pt x="89306" y="19584"/>
                    <a:pt x="136587" y="0"/>
                    <a:pt x="185887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0302570" cy="2782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00438" y="6496448"/>
            <a:ext cx="4919846" cy="6441697"/>
          </a:xfrm>
          <a:custGeom>
            <a:avLst/>
            <a:gdLst/>
            <a:ahLst/>
            <a:cxnLst/>
            <a:rect r="r" b="b" t="t" l="l"/>
            <a:pathLst>
              <a:path h="6441697" w="4919846">
                <a:moveTo>
                  <a:pt x="0" y="0"/>
                </a:moveTo>
                <a:lnTo>
                  <a:pt x="4919846" y="0"/>
                </a:lnTo>
                <a:lnTo>
                  <a:pt x="4919846" y="6441697"/>
                </a:lnTo>
                <a:lnTo>
                  <a:pt x="0" y="64416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45356" y="2340094"/>
            <a:ext cx="10097298" cy="51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343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DEVELOPMENT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187" y="3467493"/>
            <a:ext cx="13214984" cy="36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766" indent="-328383" lvl="1">
              <a:lnSpc>
                <a:spcPts val="3133"/>
              </a:lnSpc>
              <a:buAutoNum type="arabicPeriod" startAt="1"/>
            </a:pP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Unity:</a:t>
            </a: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A versatile engine supporting both 2D and 3D development.</a:t>
            </a:r>
          </a:p>
          <a:p>
            <a:pPr algn="l" marL="656766" indent="-328383" lvl="1">
              <a:lnSpc>
                <a:spcPts val="3133"/>
              </a:lnSpc>
              <a:buAutoNum type="arabicPeriod" startAt="1"/>
            </a:pP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Unreal Engine:</a:t>
            </a: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Powerful for creating high-quality 3D games.</a:t>
            </a:r>
          </a:p>
          <a:p>
            <a:pPr algn="l" marL="656766" indent="-328383" lvl="1">
              <a:lnSpc>
                <a:spcPts val="3133"/>
              </a:lnSpc>
              <a:buAutoNum type="arabicPeriod" startAt="1"/>
            </a:pP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GameMaker Studio 2:</a:t>
            </a: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Excellent for 2D game creation.</a:t>
            </a:r>
          </a:p>
          <a:p>
            <a:pPr algn="l" marL="656766" indent="-328383" lvl="1">
              <a:lnSpc>
                <a:spcPts val="3133"/>
              </a:lnSpc>
              <a:buAutoNum type="arabicPeriod" startAt="1"/>
            </a:pP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Godot:</a:t>
            </a: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An open-source engine supporting both 2D and 3D development.</a:t>
            </a:r>
          </a:p>
          <a:p>
            <a:pPr algn="l">
              <a:lnSpc>
                <a:spcPts val="3133"/>
              </a:lnSpc>
            </a:pPr>
          </a:p>
          <a:p>
            <a:pPr algn="l">
              <a:lnSpc>
                <a:spcPts val="3133"/>
              </a:lnSpc>
            </a:pPr>
            <a:r>
              <a:rPr lang="en-US" sz="304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These tools cater to different skill levels and project requirements, from indie developers to large studios.</a:t>
            </a:r>
          </a:p>
          <a:p>
            <a:pPr algn="l">
              <a:lnSpc>
                <a:spcPts val="3133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670054"/>
            <a:ext cx="11209077" cy="1759742"/>
            <a:chOff x="0" y="0"/>
            <a:chExt cx="73189876" cy="11490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89877" cy="11490272"/>
            </a:xfrm>
            <a:custGeom>
              <a:avLst/>
              <a:gdLst/>
              <a:ahLst/>
              <a:cxnLst/>
              <a:rect r="r" b="b" t="t" l="l"/>
              <a:pathLst>
                <a:path h="11490272" w="73189877">
                  <a:moveTo>
                    <a:pt x="229350" y="0"/>
                  </a:moveTo>
                  <a:lnTo>
                    <a:pt x="72960526" y="0"/>
                  </a:lnTo>
                  <a:cubicBezTo>
                    <a:pt x="73021354" y="0"/>
                    <a:pt x="73079688" y="24164"/>
                    <a:pt x="73122699" y="67175"/>
                  </a:cubicBezTo>
                  <a:cubicBezTo>
                    <a:pt x="73165711" y="110187"/>
                    <a:pt x="73189877" y="168523"/>
                    <a:pt x="73189877" y="229350"/>
                  </a:cubicBezTo>
                  <a:lnTo>
                    <a:pt x="73189877" y="11260921"/>
                  </a:lnTo>
                  <a:cubicBezTo>
                    <a:pt x="73189877" y="11321749"/>
                    <a:pt x="73165711" y="11380085"/>
                    <a:pt x="73122699" y="11423097"/>
                  </a:cubicBezTo>
                  <a:cubicBezTo>
                    <a:pt x="73079688" y="11466108"/>
                    <a:pt x="73021354" y="11490272"/>
                    <a:pt x="72960526" y="11490272"/>
                  </a:cubicBezTo>
                  <a:lnTo>
                    <a:pt x="229350" y="11490272"/>
                  </a:lnTo>
                  <a:cubicBezTo>
                    <a:pt x="168523" y="11490272"/>
                    <a:pt x="110187" y="11466108"/>
                    <a:pt x="67175" y="11423097"/>
                  </a:cubicBezTo>
                  <a:cubicBezTo>
                    <a:pt x="24164" y="11380085"/>
                    <a:pt x="0" y="11321749"/>
                    <a:pt x="0" y="11260921"/>
                  </a:cubicBezTo>
                  <a:lnTo>
                    <a:pt x="0" y="229350"/>
                  </a:lnTo>
                  <a:cubicBezTo>
                    <a:pt x="0" y="168523"/>
                    <a:pt x="24164" y="110187"/>
                    <a:pt x="67175" y="67175"/>
                  </a:cubicBezTo>
                  <a:cubicBezTo>
                    <a:pt x="110187" y="24164"/>
                    <a:pt x="168523" y="0"/>
                    <a:pt x="22935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89876" cy="1152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89815" y="8226763"/>
            <a:ext cx="10958589" cy="56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36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</a:t>
            </a:r>
            <a:r>
              <a:rPr lang="en-US" sz="36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rogramming Languages: C#, C++, GDS</a:t>
            </a:r>
            <a:r>
              <a:rPr lang="en-US" sz="36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cript, Lua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B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3964" y="2483044"/>
            <a:ext cx="2680073" cy="653268"/>
          </a:xfrm>
          <a:custGeom>
            <a:avLst/>
            <a:gdLst/>
            <a:ahLst/>
            <a:cxnLst/>
            <a:rect r="r" b="b" t="t" l="l"/>
            <a:pathLst>
              <a:path h="653268" w="2680073">
                <a:moveTo>
                  <a:pt x="0" y="0"/>
                </a:moveTo>
                <a:lnTo>
                  <a:pt x="2680072" y="0"/>
                </a:lnTo>
                <a:lnTo>
                  <a:pt x="2680072" y="653268"/>
                </a:lnTo>
                <a:lnTo>
                  <a:pt x="0" y="65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9847" y="1354063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32786" y="7133251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63500" y="1996385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24500" y="3782887"/>
            <a:ext cx="10839000" cy="311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2"/>
              </a:lnSpc>
            </a:pPr>
            <a:r>
              <a:rPr lang="en-US" sz="1027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OVER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099847" y="5761231"/>
            <a:ext cx="5035824" cy="2279855"/>
          </a:xfrm>
          <a:custGeom>
            <a:avLst/>
            <a:gdLst/>
            <a:ahLst/>
            <a:cxnLst/>
            <a:rect r="r" b="b" t="t" l="l"/>
            <a:pathLst>
              <a:path h="2279855" w="5035824">
                <a:moveTo>
                  <a:pt x="0" y="0"/>
                </a:moveTo>
                <a:lnTo>
                  <a:pt x="5035824" y="0"/>
                </a:lnTo>
                <a:lnTo>
                  <a:pt x="5035824" y="2279855"/>
                </a:lnTo>
                <a:lnTo>
                  <a:pt x="0" y="227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24500" y="8926911"/>
            <a:ext cx="7315200" cy="1782249"/>
          </a:xfrm>
          <a:custGeom>
            <a:avLst/>
            <a:gdLst/>
            <a:ahLst/>
            <a:cxnLst/>
            <a:rect r="r" b="b" t="t" l="l"/>
            <a:pathLst>
              <a:path h="1782249" w="7315200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21759" y="6980851"/>
            <a:ext cx="7244482" cy="78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4"/>
              </a:lnSpc>
            </a:pPr>
            <a:r>
              <a:rPr lang="en-US" sz="4131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DAHO-NErHjE</dc:identifier>
  <dcterms:modified xsi:type="dcterms:W3CDTF">2011-08-01T06:04:30Z</dcterms:modified>
  <cp:revision>1</cp:revision>
  <dc:title>Blue Green Cute Retro Pixel Cat Cartoon Trivia Game Quiz Presentation</dc:title>
</cp:coreProperties>
</file>